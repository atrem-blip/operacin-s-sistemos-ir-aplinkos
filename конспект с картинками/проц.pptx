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490" r:id="rId2"/>
    <p:sldId id="491" r:id="rId3"/>
    <p:sldId id="492" r:id="rId4"/>
    <p:sldId id="493" r:id="rId5"/>
    <p:sldId id="494" r:id="rId6"/>
    <p:sldId id="495" r:id="rId7"/>
    <p:sldId id="489" r:id="rId8"/>
    <p:sldId id="543" r:id="rId9"/>
    <p:sldId id="544" r:id="rId10"/>
    <p:sldId id="496" r:id="rId11"/>
    <p:sldId id="517" r:id="rId12"/>
    <p:sldId id="497" r:id="rId13"/>
    <p:sldId id="498" r:id="rId14"/>
    <p:sldId id="499" r:id="rId15"/>
    <p:sldId id="500" r:id="rId16"/>
    <p:sldId id="501" r:id="rId17"/>
    <p:sldId id="502" r:id="rId18"/>
    <p:sldId id="503" r:id="rId19"/>
    <p:sldId id="504" r:id="rId20"/>
    <p:sldId id="505" r:id="rId21"/>
    <p:sldId id="506" r:id="rId22"/>
    <p:sldId id="507" r:id="rId23"/>
    <p:sldId id="508" r:id="rId24"/>
    <p:sldId id="509" r:id="rId25"/>
    <p:sldId id="510" r:id="rId26"/>
    <p:sldId id="511" r:id="rId27"/>
    <p:sldId id="512" r:id="rId28"/>
    <p:sldId id="513" r:id="rId29"/>
    <p:sldId id="514" r:id="rId30"/>
    <p:sldId id="515" r:id="rId31"/>
    <p:sldId id="516" r:id="rId32"/>
    <p:sldId id="518" r:id="rId33"/>
    <p:sldId id="520" r:id="rId34"/>
    <p:sldId id="521" r:id="rId35"/>
    <p:sldId id="522" r:id="rId36"/>
    <p:sldId id="523" r:id="rId37"/>
    <p:sldId id="524" r:id="rId38"/>
    <p:sldId id="525" r:id="rId39"/>
    <p:sldId id="526" r:id="rId40"/>
    <p:sldId id="527" r:id="rId41"/>
    <p:sldId id="528" r:id="rId42"/>
    <p:sldId id="529" r:id="rId43"/>
    <p:sldId id="530" r:id="rId44"/>
    <p:sldId id="531" r:id="rId45"/>
    <p:sldId id="532" r:id="rId46"/>
    <p:sldId id="534" r:id="rId47"/>
    <p:sldId id="535" r:id="rId48"/>
    <p:sldId id="536" r:id="rId49"/>
    <p:sldId id="537" r:id="rId50"/>
    <p:sldId id="538" r:id="rId51"/>
    <p:sldId id="533" r:id="rId52"/>
    <p:sldId id="539" r:id="rId53"/>
    <p:sldId id="540" r:id="rId54"/>
    <p:sldId id="541" r:id="rId55"/>
    <p:sldId id="542" r:id="rId56"/>
    <p:sldId id="545" r:id="rId57"/>
    <p:sldId id="546" r:id="rId58"/>
    <p:sldId id="547" r:id="rId59"/>
    <p:sldId id="548" r:id="rId60"/>
    <p:sldId id="549" r:id="rId61"/>
    <p:sldId id="550" r:id="rId62"/>
    <p:sldId id="551" r:id="rId63"/>
    <p:sldId id="552" r:id="rId64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9" autoAdjust="0"/>
    <p:restoredTop sz="92857" autoAdjust="0"/>
  </p:normalViewPr>
  <p:slideViewPr>
    <p:cSldViewPr>
      <p:cViewPr varScale="1">
        <p:scale>
          <a:sx n="92" d="100"/>
          <a:sy n="92" d="100"/>
        </p:scale>
        <p:origin x="31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79AFE3-F60F-49C0-9624-83FB4A4B588B}" type="datetimeFigureOut">
              <a:rPr lang="ru-RU"/>
              <a:pPr>
                <a:defRPr/>
              </a:pPr>
              <a:t>01.10.2026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05F030E-352A-437F-B8F3-ABEFD2A7373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5F030E-352A-437F-B8F3-ABEFD2A73731}" type="slidenum">
              <a:rPr lang="ru-RU" smtClean="0"/>
              <a:pPr>
                <a:defRPr/>
              </a:pPr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509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554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614D63A-F37F-4261-9922-3D9C3808B51B}" type="slidenum">
              <a:rPr lang="ru-RU" smtClean="0"/>
              <a:pPr/>
              <a:t>60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A9906-FFAE-4A34-98F8-235E64F029A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2C0F5-78A0-4D42-9042-D93C9426DD2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A00AF-EEA8-4DA8-9450-1339FF8735B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69D34C-9D44-424E-942D-7A37F6D2213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B62697-FD31-42B9-A5E9-189845E3A42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004FFC-406A-472D-9E2A-5A9744952FA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CB5675-E10E-4080-8066-1F3A14DDB24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DAD381-D23A-49C0-883B-7F0FC0C5EDA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F61D3-5A4C-42A6-8968-F005B6C087B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2EAFE-5BB8-4EE4-9F3F-E69A818DA95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408C9B-071C-4262-8B6D-C40F59F9A03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A2FC2D-70A2-43BA-A6B9-553252123AC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Заголовок, 1 большой объект и 2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B85B9F-8C95-422D-B2A8-62AE07811F9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7BAD4-B6F1-4637-BCC5-FF5C1218BA2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7501F68-8FAD-4E82-9FDE-FBB91C195C8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5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5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1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1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0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1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23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24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25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26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27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28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29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30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31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32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33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34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4" Type="http://schemas.openxmlformats.org/officeDocument/2006/relationships/image" Target="../media/image35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4" Type="http://schemas.openxmlformats.org/officeDocument/2006/relationships/image" Target="../media/image36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37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38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4" Type="http://schemas.openxmlformats.org/officeDocument/2006/relationships/image" Target="../media/image39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4" Type="http://schemas.openxmlformats.org/officeDocument/2006/relationships/image" Target="../media/image40.e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43.png"/><Relationship Id="rId4" Type="http://schemas.openxmlformats.org/officeDocument/2006/relationships/image" Target="../media/image41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4" Type="http://schemas.openxmlformats.org/officeDocument/2006/relationships/image" Target="../media/image44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45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6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25538"/>
            <a:ext cx="8229600" cy="4319587"/>
          </a:xfrm>
        </p:spPr>
        <p:txBody>
          <a:bodyPr/>
          <a:lstStyle/>
          <a:p>
            <a:pPr eaLnBrk="1" hangingPunct="1"/>
            <a:r>
              <a:rPr lang="ru-RU" b="1" dirty="0"/>
              <a:t>Взаимодействие устройств ЭВМ в процессе выполнения машинной команды</a:t>
            </a:r>
            <a:br>
              <a:rPr lang="ru-RU" b="1" dirty="0"/>
            </a:br>
            <a:r>
              <a:rPr lang="ru-RU" b="1" dirty="0"/>
              <a:t> (рабочий цикл процессора)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5"/>
          <p:cNvSpPr txBox="1">
            <a:spLocks noChangeArrowheads="1"/>
          </p:cNvSpPr>
          <p:nvPr/>
        </p:nvSpPr>
        <p:spPr bwMode="auto">
          <a:xfrm>
            <a:off x="0" y="404813"/>
            <a:ext cx="9144000" cy="237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630238" algn="just">
              <a:spcBef>
                <a:spcPct val="50000"/>
              </a:spcBef>
            </a:pPr>
            <a:r>
              <a:rPr lang="ru-RU" sz="2000" b="1" dirty="0"/>
              <a:t>В каждый момент времени компьютер выполняет определенную программу. Программа – последовательность действий (команд), направленная на преобразование некоторых входных данных в выходные (результат).</a:t>
            </a:r>
          </a:p>
          <a:p>
            <a:pPr indent="630238" algn="just">
              <a:spcBef>
                <a:spcPct val="50000"/>
              </a:spcBef>
            </a:pPr>
            <a:r>
              <a:rPr lang="ru-RU" sz="2000" b="1" dirty="0"/>
              <a:t>Команды и данные программы, исполняемой в текущий момент времени хранятся в оперативной памяти (ОП). Выполняет команды процессор.</a:t>
            </a:r>
          </a:p>
        </p:txBody>
      </p:sp>
      <p:sp>
        <p:nvSpPr>
          <p:cNvPr id="1028" name="Text Box 6"/>
          <p:cNvSpPr txBox="1">
            <a:spLocks noChangeArrowheads="1"/>
          </p:cNvSpPr>
          <p:nvPr/>
        </p:nvSpPr>
        <p:spPr bwMode="auto">
          <a:xfrm>
            <a:off x="6119813" y="3068638"/>
            <a:ext cx="3024187" cy="268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ru-RU" sz="2000" b="1">
                <a:solidFill>
                  <a:srgbClr val="FF0000"/>
                </a:solidFill>
              </a:rPr>
              <a:t>Вопрос: В каком виде хранятся данные и команды?</a:t>
            </a:r>
          </a:p>
          <a:p>
            <a:pPr algn="just">
              <a:spcBef>
                <a:spcPct val="50000"/>
              </a:spcBef>
            </a:pPr>
            <a:r>
              <a:rPr lang="ru-RU" sz="2000" b="1">
                <a:solidFill>
                  <a:srgbClr val="FF0000"/>
                </a:solidFill>
              </a:rPr>
              <a:t>Откуда процессор знает,  где в ОП находится очередная команда и данные для нее?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50825" y="3206750"/>
          <a:ext cx="6626225" cy="365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Visio" r:id="rId3" imgW="4309428" imgH="2374265" progId="Visio.Drawing.11">
                  <p:embed/>
                </p:oleObj>
              </mc:Choice>
              <mc:Fallback>
                <p:oleObj name="Visio" r:id="rId3" imgW="4309428" imgH="2374265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206750"/>
                        <a:ext cx="6626225" cy="365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6"/>
          <p:cNvSpPr txBox="1">
            <a:spLocks noChangeArrowheads="1"/>
          </p:cNvSpPr>
          <p:nvPr/>
        </p:nvSpPr>
        <p:spPr bwMode="auto">
          <a:xfrm>
            <a:off x="8604250" y="0"/>
            <a:ext cx="53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5"/>
          <p:cNvSpPr txBox="1">
            <a:spLocks noChangeArrowheads="1"/>
          </p:cNvSpPr>
          <p:nvPr/>
        </p:nvSpPr>
        <p:spPr bwMode="auto">
          <a:xfrm>
            <a:off x="4716015" y="2348880"/>
            <a:ext cx="3886647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 dirty="0"/>
              <a:t>= </a:t>
            </a:r>
            <a:r>
              <a:rPr lang="ru-RU" sz="2000" b="1" dirty="0"/>
              <a:t>1*2</a:t>
            </a:r>
            <a:r>
              <a:rPr lang="ru-RU" sz="2000" b="1" baseline="30000" dirty="0"/>
              <a:t>0</a:t>
            </a:r>
            <a:r>
              <a:rPr lang="ru-RU" sz="2000" b="1" dirty="0"/>
              <a:t>+0*2</a:t>
            </a:r>
            <a:r>
              <a:rPr lang="ru-RU" sz="2000" b="1" baseline="30000" dirty="0"/>
              <a:t>1</a:t>
            </a:r>
            <a:r>
              <a:rPr lang="ru-RU" sz="2000" b="1" dirty="0"/>
              <a:t>+1*2</a:t>
            </a:r>
            <a:r>
              <a:rPr lang="ru-RU" sz="2000" b="1" baseline="30000" dirty="0"/>
              <a:t>2</a:t>
            </a:r>
            <a:r>
              <a:rPr lang="ru-RU" sz="2000" b="1" dirty="0"/>
              <a:t>+1+2</a:t>
            </a:r>
            <a:r>
              <a:rPr lang="ru-RU" sz="2000" b="1" baseline="30000" dirty="0"/>
              <a:t>3</a:t>
            </a:r>
            <a:r>
              <a:rPr lang="ru-RU" sz="2000" b="1" dirty="0"/>
              <a:t>+0*2</a:t>
            </a:r>
            <a:r>
              <a:rPr lang="ru-RU" sz="2000" b="1" baseline="30000" dirty="0"/>
              <a:t>4</a:t>
            </a:r>
            <a:r>
              <a:rPr lang="ru-RU" sz="2000" b="1" dirty="0"/>
              <a:t>+1*2</a:t>
            </a:r>
            <a:r>
              <a:rPr lang="ru-RU" sz="2000" b="1" baseline="30000" dirty="0"/>
              <a:t>5</a:t>
            </a:r>
            <a:r>
              <a:rPr lang="ru-RU" sz="2000" b="1" dirty="0"/>
              <a:t>+1*2</a:t>
            </a:r>
            <a:r>
              <a:rPr lang="ru-RU" sz="2000" b="1" baseline="30000" dirty="0"/>
              <a:t>6</a:t>
            </a:r>
            <a:r>
              <a:rPr lang="ru-RU" sz="2000" b="1" dirty="0"/>
              <a:t>=</a:t>
            </a:r>
          </a:p>
          <a:p>
            <a:pPr>
              <a:spcBef>
                <a:spcPct val="50000"/>
              </a:spcBef>
            </a:pPr>
            <a:r>
              <a:rPr lang="ru-RU" sz="2000" b="1" dirty="0"/>
              <a:t>= 1+4+8+32+64=+109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900113" y="1989138"/>
          <a:ext cx="3675062" cy="174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Visio" r:id="rId3" imgW="3675698" imgH="1745297" progId="Visio.Drawing.11">
                  <p:embed/>
                </p:oleObj>
              </mc:Choice>
              <mc:Fallback>
                <p:oleObj name="Visio" r:id="rId3" imgW="3675698" imgH="1745297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989138"/>
                        <a:ext cx="3675062" cy="174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Text Box 8"/>
          <p:cNvSpPr txBox="1">
            <a:spLocks noChangeArrowheads="1"/>
          </p:cNvSpPr>
          <p:nvPr/>
        </p:nvSpPr>
        <p:spPr bwMode="auto">
          <a:xfrm>
            <a:off x="358775" y="3933825"/>
            <a:ext cx="8785225" cy="255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="1" dirty="0"/>
              <a:t>Числа представляются в ЭВМ в двоичной системе счисления (форматы со знаком с фиксированной и с плавающей точкой).</a:t>
            </a:r>
          </a:p>
          <a:p>
            <a:pPr>
              <a:spcBef>
                <a:spcPct val="50000"/>
              </a:spcBef>
            </a:pPr>
            <a:r>
              <a:rPr lang="ru-RU" sz="2000" b="1" dirty="0"/>
              <a:t>Символы представляются их двоичными кодами.</a:t>
            </a:r>
          </a:p>
          <a:p>
            <a:pPr>
              <a:spcBef>
                <a:spcPct val="50000"/>
              </a:spcBef>
            </a:pPr>
            <a:r>
              <a:rPr lang="ru-RU" sz="2000" b="1" dirty="0"/>
              <a:t>Двоичные вектора (над которыми производятся поразрядные логические операции) представляются последовательностями битов, для хранения которых, как правило,  используются беззнаковые целые типы.</a:t>
            </a:r>
          </a:p>
        </p:txBody>
      </p:sp>
      <p:sp>
        <p:nvSpPr>
          <p:cNvPr id="2053" name="TextBox 5"/>
          <p:cNvSpPr txBox="1">
            <a:spLocks noChangeArrowheads="1"/>
          </p:cNvSpPr>
          <p:nvPr/>
        </p:nvSpPr>
        <p:spPr bwMode="auto">
          <a:xfrm>
            <a:off x="395288" y="188913"/>
            <a:ext cx="820737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4000" b="1" dirty="0"/>
              <a:t>Представление данных</a:t>
            </a:r>
          </a:p>
          <a:p>
            <a:pPr algn="ctr"/>
            <a:r>
              <a:rPr lang="ru-RU" sz="2400" b="1" dirty="0"/>
              <a:t>(подробно рассматривали в теме АЛУ)</a:t>
            </a:r>
          </a:p>
        </p:txBody>
      </p:sp>
      <p:sp>
        <p:nvSpPr>
          <p:cNvPr id="2054" name="Text Box 7"/>
          <p:cNvSpPr txBox="1">
            <a:spLocks noChangeArrowheads="1"/>
          </p:cNvSpPr>
          <p:nvPr/>
        </p:nvSpPr>
        <p:spPr bwMode="auto">
          <a:xfrm>
            <a:off x="8604250" y="0"/>
            <a:ext cx="53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4"/>
          <p:cNvSpPr txBox="1">
            <a:spLocks noChangeArrowheads="1"/>
          </p:cNvSpPr>
          <p:nvPr/>
        </p:nvSpPr>
        <p:spPr bwMode="auto">
          <a:xfrm>
            <a:off x="358775" y="0"/>
            <a:ext cx="8785225" cy="264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3600" b="1" dirty="0"/>
              <a:t>Представление команд</a:t>
            </a:r>
          </a:p>
          <a:p>
            <a:pPr>
              <a:spcBef>
                <a:spcPct val="50000"/>
              </a:spcBef>
            </a:pPr>
            <a:endParaRPr lang="ru-RU" sz="2000" b="1" dirty="0"/>
          </a:p>
          <a:p>
            <a:pPr>
              <a:spcBef>
                <a:spcPct val="50000"/>
              </a:spcBef>
            </a:pPr>
            <a:r>
              <a:rPr lang="ru-RU" sz="2000" b="1" dirty="0"/>
              <a:t>Команда – это приказ компьютеру на выполнение какой-либо операции, например, операции сложения двух чисел (операндов), которые хранятся в оперативной памяти. </a:t>
            </a:r>
          </a:p>
          <a:p>
            <a:pPr>
              <a:spcBef>
                <a:spcPct val="50000"/>
              </a:spcBef>
            </a:pPr>
            <a:r>
              <a:rPr lang="ru-RU" sz="2000" b="1" dirty="0"/>
              <a:t>Можно представить команду в следующем формате:</a:t>
            </a: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1979613" y="2781300"/>
          <a:ext cx="4751387" cy="377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Visio" r:id="rId3" imgW="2797175" imgH="2222818" progId="Visio.Drawing.11">
                  <p:embed/>
                </p:oleObj>
              </mc:Choice>
              <mc:Fallback>
                <p:oleObj name="Visio" r:id="rId3" imgW="2797175" imgH="2222818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781300"/>
                        <a:ext cx="4751387" cy="377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0" y="6453188"/>
            <a:ext cx="91440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/>
              <a:t>     Результат, как правило, помещается в память на место первого операнда</a:t>
            </a:r>
          </a:p>
          <a:p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4"/>
          <p:cNvSpPr txBox="1">
            <a:spLocks noChangeArrowheads="1"/>
          </p:cNvSpPr>
          <p:nvPr/>
        </p:nvSpPr>
        <p:spPr bwMode="auto">
          <a:xfrm>
            <a:off x="250825" y="549275"/>
            <a:ext cx="8713788" cy="593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400" b="1" dirty="0"/>
              <a:t>Каждый процессор исполняет определенный набор команд, который называется системой команд процессора. В этот набор входят арифметические и логические команды, команды пересылки информации между регистрами процессора и оперативной памятью, команды передачи управления, команды ввода-вывода и др.</a:t>
            </a:r>
          </a:p>
          <a:p>
            <a:pPr>
              <a:spcBef>
                <a:spcPct val="50000"/>
              </a:spcBef>
            </a:pPr>
            <a:endParaRPr lang="ru-RU" sz="2400" b="1" dirty="0"/>
          </a:p>
          <a:p>
            <a:pPr>
              <a:spcBef>
                <a:spcPct val="50000"/>
              </a:spcBef>
            </a:pPr>
            <a:r>
              <a:rPr lang="ru-RU" sz="2400" b="1" dirty="0"/>
              <a:t>Данные о системе команд конкретного процессора можно получить из соответствующих справочников.</a:t>
            </a:r>
          </a:p>
          <a:p>
            <a:pPr>
              <a:spcBef>
                <a:spcPct val="50000"/>
              </a:spcBef>
            </a:pPr>
            <a:endParaRPr lang="ru-RU" sz="2400" b="1" dirty="0"/>
          </a:p>
          <a:p>
            <a:pPr>
              <a:spcBef>
                <a:spcPct val="50000"/>
              </a:spcBef>
            </a:pPr>
            <a:r>
              <a:rPr lang="ru-RU" sz="2400" b="1" dirty="0"/>
              <a:t>В качестве примера приведем фрагмент описания системы команд микропроцессора (микроконтроллера) КМ1816ВЕ51.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4" descr="1 Система команд МК-5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388" y="261938"/>
            <a:ext cx="8785225" cy="66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Box 4"/>
          <p:cNvSpPr txBox="1">
            <a:spLocks noChangeArrowheads="1"/>
          </p:cNvSpPr>
          <p:nvPr/>
        </p:nvSpPr>
        <p:spPr bwMode="auto">
          <a:xfrm>
            <a:off x="5795963" y="5373688"/>
            <a:ext cx="31686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 sz="3600" b="1">
              <a:solidFill>
                <a:srgbClr val="FF0000"/>
              </a:solidFill>
            </a:endParaRPr>
          </a:p>
          <a:p>
            <a:endParaRPr lang="ru-RU"/>
          </a:p>
        </p:txBody>
      </p:sp>
      <p:graphicFrame>
        <p:nvGraphicFramePr>
          <p:cNvPr id="409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005137"/>
              </p:ext>
            </p:extLst>
          </p:nvPr>
        </p:nvGraphicFramePr>
        <p:xfrm>
          <a:off x="179387" y="0"/>
          <a:ext cx="659288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7" y="0"/>
                        <a:ext cx="6592888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Text Box 9"/>
          <p:cNvSpPr txBox="1">
            <a:spLocks noChangeArrowheads="1"/>
          </p:cNvSpPr>
          <p:nvPr/>
        </p:nvSpPr>
        <p:spPr bwMode="auto">
          <a:xfrm>
            <a:off x="5940425" y="0"/>
            <a:ext cx="32035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3600" b="1" dirty="0">
                <a:solidFill>
                  <a:srgbClr val="FF0000"/>
                </a:solidFill>
              </a:rPr>
              <a:t>Аппаратное обеспечение</a:t>
            </a:r>
          </a:p>
        </p:txBody>
      </p:sp>
      <p:sp>
        <p:nvSpPr>
          <p:cNvPr id="4101" name="Text Box 7"/>
          <p:cNvSpPr txBox="1">
            <a:spLocks noChangeArrowheads="1"/>
          </p:cNvSpPr>
          <p:nvPr/>
        </p:nvSpPr>
        <p:spPr bwMode="auto">
          <a:xfrm>
            <a:off x="6720400" y="1125538"/>
            <a:ext cx="2411412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600" u="sng" dirty="0"/>
              <a:t>Регистры процессора:</a:t>
            </a:r>
          </a:p>
          <a:p>
            <a:r>
              <a:rPr lang="ru-RU" sz="1600" dirty="0"/>
              <a:t>РК – регистр команд;</a:t>
            </a:r>
          </a:p>
          <a:p>
            <a:r>
              <a:rPr lang="ru-RU" sz="1600" dirty="0" err="1"/>
              <a:t>ПортА</a:t>
            </a:r>
            <a:r>
              <a:rPr lang="ru-RU" sz="1600" dirty="0"/>
              <a:t> – порт адреса;</a:t>
            </a:r>
          </a:p>
          <a:p>
            <a:r>
              <a:rPr lang="ru-RU" sz="1600" dirty="0"/>
              <a:t>ПортД – порт данных;</a:t>
            </a:r>
          </a:p>
          <a:p>
            <a:r>
              <a:rPr lang="ru-RU" sz="1600" dirty="0"/>
              <a:t>Р1 – аккумулятор АЛУ;</a:t>
            </a:r>
          </a:p>
          <a:p>
            <a:r>
              <a:rPr lang="ru-RU" sz="1600" dirty="0"/>
              <a:t>Р</a:t>
            </a:r>
            <a:r>
              <a:rPr lang="en-US" sz="1600" dirty="0"/>
              <a:t>2 – </a:t>
            </a:r>
            <a:r>
              <a:rPr lang="ru-RU" sz="1600" dirty="0"/>
              <a:t>второй регистр АЛУ;</a:t>
            </a:r>
          </a:p>
          <a:p>
            <a:r>
              <a:rPr lang="ru-RU" sz="1600" dirty="0" err="1"/>
              <a:t>СчАК</a:t>
            </a:r>
            <a:r>
              <a:rPr lang="ru-RU" sz="1600" dirty="0"/>
              <a:t> – счетчик адреса команды.</a:t>
            </a:r>
          </a:p>
          <a:p>
            <a:endParaRPr lang="ru-RU" sz="1600" dirty="0"/>
          </a:p>
          <a:p>
            <a:r>
              <a:rPr lang="ru-RU" sz="1600" u="sng" dirty="0"/>
              <a:t>Регистры оперативной памяти (ОП): </a:t>
            </a:r>
          </a:p>
          <a:p>
            <a:r>
              <a:rPr lang="ru-RU" sz="1600" dirty="0"/>
              <a:t>РАОП – регистр адреса ОП;</a:t>
            </a:r>
          </a:p>
          <a:p>
            <a:r>
              <a:rPr lang="ru-RU" sz="1600" dirty="0"/>
              <a:t>РСОП – регистр слова ОП.</a:t>
            </a:r>
          </a:p>
          <a:p>
            <a:endParaRPr lang="ru-RU" sz="1600" dirty="0"/>
          </a:p>
        </p:txBody>
      </p:sp>
      <p:sp>
        <p:nvSpPr>
          <p:cNvPr id="4102" name="Text Box 8"/>
          <p:cNvSpPr txBox="1">
            <a:spLocks noChangeArrowheads="1"/>
          </p:cNvSpPr>
          <p:nvPr/>
        </p:nvSpPr>
        <p:spPr bwMode="auto">
          <a:xfrm>
            <a:off x="4787900" y="5013325"/>
            <a:ext cx="4356100" cy="155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 sz="1600" dirty="0"/>
          </a:p>
          <a:p>
            <a:r>
              <a:rPr lang="ru-RU" sz="1600" dirty="0"/>
              <a:t>АЛУ процессора, ОП, шина адреса, шина данных, шина управления, УУиС (устройство управления и синхронизации)</a:t>
            </a:r>
            <a:r>
              <a:rPr lang="en-US" sz="1600" dirty="0"/>
              <a:t> </a:t>
            </a:r>
            <a:r>
              <a:rPr lang="ru-RU" sz="1600" dirty="0"/>
              <a:t>процессора, генератор </a:t>
            </a:r>
            <a:r>
              <a:rPr lang="ru-RU" sz="1600" dirty="0" err="1"/>
              <a:t>синхросерии</a:t>
            </a:r>
            <a:r>
              <a:rPr lang="ru-RU" sz="1600" i="1" dirty="0"/>
              <a:t> С</a:t>
            </a:r>
            <a:r>
              <a:rPr lang="ru-RU" sz="1600" dirty="0"/>
              <a:t>, дешифратор КОП (</a:t>
            </a:r>
            <a:r>
              <a:rPr lang="en-US" sz="1600" dirty="0"/>
              <a:t>DC)</a:t>
            </a:r>
            <a:r>
              <a:rPr lang="ru-RU" sz="16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1640" y="25540"/>
            <a:ext cx="5472286" cy="10341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b="1" u="sng" dirty="0">
                <a:solidFill>
                  <a:srgbClr val="FF0000"/>
                </a:solidFill>
              </a:rPr>
              <a:t>Устройства, входящие в состав процессора</a:t>
            </a:r>
          </a:p>
          <a:p>
            <a:pPr>
              <a:defRPr/>
            </a:pPr>
            <a:endParaRPr lang="en-US" b="1" dirty="0"/>
          </a:p>
          <a:p>
            <a:pPr marL="342900" indent="-342900">
              <a:buFontTx/>
              <a:buAutoNum type="arabicParenR"/>
              <a:defRPr/>
            </a:pPr>
            <a:r>
              <a:rPr lang="ru-RU" b="1" dirty="0"/>
              <a:t>УУиС – устройство управления и синхронизации (управляет работой всех других устройств)</a:t>
            </a:r>
            <a:r>
              <a:rPr lang="en-US" b="1" dirty="0"/>
              <a:t>;</a:t>
            </a:r>
            <a:endParaRPr lang="ru-RU" b="1" dirty="0"/>
          </a:p>
          <a:p>
            <a:pPr marL="342900" indent="-342900">
              <a:buFontTx/>
              <a:buAutoNum type="arabicParenR"/>
              <a:defRPr/>
            </a:pPr>
            <a:r>
              <a:rPr lang="ru-RU" b="1" dirty="0" err="1"/>
              <a:t>СчАК</a:t>
            </a:r>
            <a:r>
              <a:rPr lang="ru-RU" b="1" dirty="0"/>
              <a:t> – счетчик адреса команды (длина определяется количеством битов адреса в системе, зависящим от объема оперативной памяти в байтах) хранит адрес очередной команды, которая должна быть считана из памяти и выполнена ;</a:t>
            </a:r>
          </a:p>
          <a:p>
            <a:pPr marL="342900" indent="-342900">
              <a:buFontTx/>
              <a:buAutoNum type="arabicParenR"/>
              <a:defRPr/>
            </a:pPr>
            <a:r>
              <a:rPr lang="ru-RU" b="1" dirty="0"/>
              <a:t>РК – регистр команд (длина определяется максимальной длиной команды) хранит выбранную из памяти команду на всем протяжении  ее выполнения процессором;</a:t>
            </a:r>
          </a:p>
          <a:p>
            <a:pPr marL="342900" indent="-342900">
              <a:buFontTx/>
              <a:buAutoNum type="arabicParenR"/>
              <a:defRPr/>
            </a:pPr>
            <a:r>
              <a:rPr lang="ru-RU" b="1" dirty="0"/>
              <a:t>АЛУ, имеющее два регистра для операндов, один из которых является аккумулятором, т.е. регистром, в который загружается операнд, а потом в нем появляется результат выполнения операции в АЛУ (длина регистров определяется максимальной длиной операнда);</a:t>
            </a:r>
            <a:endParaRPr lang="en-US" b="1" dirty="0"/>
          </a:p>
          <a:p>
            <a:pPr marL="342900" indent="-342900">
              <a:defRPr/>
            </a:pPr>
            <a:r>
              <a:rPr lang="en-US" b="1" dirty="0"/>
              <a:t>5</a:t>
            </a:r>
            <a:r>
              <a:rPr lang="ru-RU" b="1" dirty="0"/>
              <a:t>)  </a:t>
            </a:r>
            <a:r>
              <a:rPr lang="ru-RU" b="1" dirty="0" err="1"/>
              <a:t>ПортА</a:t>
            </a:r>
            <a:r>
              <a:rPr lang="ru-RU" b="1" dirty="0"/>
              <a:t>  подключен к шине адреса, которая, в свою очередь подключена к регистру адреса оперативной памяти РАОП (длина равна количеству битов (линий) шины адреса</a:t>
            </a:r>
            <a:r>
              <a:rPr lang="en-US" b="1" dirty="0"/>
              <a:t>)</a:t>
            </a:r>
            <a:r>
              <a:rPr lang="ru-RU" b="1" dirty="0"/>
              <a:t>.</a:t>
            </a:r>
          </a:p>
          <a:p>
            <a:pPr marL="342900" indent="-342900">
              <a:buFontTx/>
              <a:buAutoNum type="arabicParenR" startAt="6"/>
              <a:defRPr/>
            </a:pPr>
            <a:r>
              <a:rPr lang="ru-RU" b="1" dirty="0"/>
              <a:t>ПортД подключен к шине данных, которая, в свою очередь, подключена к регистру слова оперативной памяти РСОП (длина равна количеству битов (линий)  шины данных</a:t>
            </a:r>
            <a:r>
              <a:rPr lang="en-US" b="1" dirty="0"/>
              <a:t>).</a:t>
            </a:r>
            <a:endParaRPr lang="ru-RU" b="1" dirty="0"/>
          </a:p>
          <a:p>
            <a:pPr marL="342900" indent="-342900">
              <a:defRPr/>
            </a:pPr>
            <a:endParaRPr lang="ru-RU" b="1" dirty="0"/>
          </a:p>
          <a:p>
            <a:pPr marL="342900" indent="-342900" algn="ctr">
              <a:defRPr/>
            </a:pPr>
            <a:r>
              <a:rPr lang="en-US" b="1" dirty="0"/>
              <a:t>… (</a:t>
            </a:r>
            <a:r>
              <a:rPr lang="ru-RU" b="1" dirty="0"/>
              <a:t>продолжим список позже).</a:t>
            </a:r>
            <a:endParaRPr lang="ru-RU" b="1" i="1" dirty="0">
              <a:solidFill>
                <a:schemeClr val="accent6"/>
              </a:solidFill>
            </a:endParaRPr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124744"/>
            <a:ext cx="3436937" cy="352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5" name="TextBox 3"/>
          <p:cNvSpPr txBox="1">
            <a:spLocks noChangeArrowheads="1"/>
          </p:cNvSpPr>
          <p:nvPr/>
        </p:nvSpPr>
        <p:spPr bwMode="auto">
          <a:xfrm>
            <a:off x="4284663" y="981075"/>
            <a:ext cx="4608512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 dirty="0"/>
              <a:t>Чтобы осуществить считывание данных из ОП процессор должен выставить на шину адреса (в РАОП) адрес слова ОП, в котором хранятся данные, и выработать  управляющий сигнал </a:t>
            </a:r>
            <a:r>
              <a:rPr lang="ru-RU" b="1" dirty="0" err="1"/>
              <a:t>ЧтОП</a:t>
            </a:r>
            <a:r>
              <a:rPr lang="ru-RU" b="1" dirty="0"/>
              <a:t>. Считанные данные появляются в РСОП и поступают по шине данных в порт данных.</a:t>
            </a:r>
          </a:p>
          <a:p>
            <a:endParaRPr lang="ru-RU" b="1" dirty="0"/>
          </a:p>
          <a:p>
            <a:r>
              <a:rPr lang="ru-RU" b="1" dirty="0"/>
              <a:t>Чтобы осуществить запись данных в ОП, процессор  должен выставить на шину адреса (в РАОП) адрес слова ОП, в которое нужно записать данные, на шину данных (в РСОП) – сами данные, и выработать управляющий сигнал (</a:t>
            </a:r>
            <a:r>
              <a:rPr lang="ru-RU" b="1" dirty="0" err="1"/>
              <a:t>ЗпОП</a:t>
            </a:r>
            <a:r>
              <a:rPr lang="ru-RU" b="1" dirty="0"/>
              <a:t>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76F677-EDBE-4986-BD9C-27DE1FE62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196752"/>
            <a:ext cx="3436937" cy="352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468313" y="260350"/>
            <a:ext cx="8353425" cy="234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3600" b="1" dirty="0"/>
              <a:t>Рабочий цикл процессора</a:t>
            </a:r>
          </a:p>
          <a:p>
            <a:pPr algn="ctr">
              <a:spcBef>
                <a:spcPct val="50000"/>
              </a:spcBef>
            </a:pPr>
            <a:r>
              <a:rPr lang="ru-RU" sz="3200" b="1" dirty="0"/>
              <a:t>на примере выполнения двухадресной арифметической (или логической) команды.</a:t>
            </a: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124075" y="2740025"/>
          <a:ext cx="5183188" cy="411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Visio" r:id="rId3" imgW="2797175" imgH="2222818" progId="Visio.Drawing.11">
                  <p:embed/>
                </p:oleObj>
              </mc:Choice>
              <mc:Fallback>
                <p:oleObj name="Visio" r:id="rId3" imgW="2797175" imgH="2222818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740025"/>
                        <a:ext cx="5183188" cy="411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6588125" y="2205038"/>
            <a:ext cx="2555875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dirty="0">
                <a:solidFill>
                  <a:srgbClr val="FF0000"/>
                </a:solidFill>
              </a:rPr>
              <a:t>Рассматриваем упрощенный вариант, но достаточный для понимания принципа взаимодействия процессора и ОП в процессе выполнения машинной команды.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4"/>
          <p:cNvSpPr txBox="1">
            <a:spLocks noChangeArrowheads="1"/>
          </p:cNvSpPr>
          <p:nvPr/>
        </p:nvSpPr>
        <p:spPr bwMode="auto">
          <a:xfrm>
            <a:off x="611188" y="2565400"/>
            <a:ext cx="8208962" cy="265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4800" b="1" dirty="0"/>
              <a:t>1 этап. </a:t>
            </a:r>
          </a:p>
          <a:p>
            <a:pPr algn="ctr"/>
            <a:r>
              <a:rPr lang="ru-RU" sz="4800" b="1" dirty="0"/>
              <a:t>Выборка команды из ОП</a:t>
            </a:r>
          </a:p>
          <a:p>
            <a:pPr>
              <a:spcBef>
                <a:spcPct val="50000"/>
              </a:spcBef>
            </a:pPr>
            <a:endParaRPr lang="ru-RU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741812"/>
              </p:ext>
            </p:extLst>
          </p:nvPr>
        </p:nvGraphicFramePr>
        <p:xfrm>
          <a:off x="1043608" y="0"/>
          <a:ext cx="6592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0"/>
                        <a:ext cx="6592887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Text Box 6"/>
          <p:cNvSpPr txBox="1">
            <a:spLocks noChangeArrowheads="1"/>
          </p:cNvSpPr>
          <p:nvPr/>
        </p:nvSpPr>
        <p:spPr bwMode="auto">
          <a:xfrm>
            <a:off x="5940425" y="5229225"/>
            <a:ext cx="3203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400" b="1" dirty="0">
                <a:solidFill>
                  <a:srgbClr val="FF0000"/>
                </a:solidFill>
              </a:rPr>
              <a:t>1)</a:t>
            </a:r>
            <a:r>
              <a:rPr lang="ru-RU" sz="2400" b="1" dirty="0"/>
              <a:t> </a:t>
            </a:r>
            <a:r>
              <a:rPr lang="ru-RU" sz="2400" b="1" dirty="0">
                <a:solidFill>
                  <a:srgbClr val="FF0000"/>
                </a:solidFill>
              </a:rPr>
              <a:t>у</a:t>
            </a:r>
            <a:r>
              <a:rPr lang="ru-RU" sz="2400" b="1" baseline="-25000" dirty="0">
                <a:solidFill>
                  <a:srgbClr val="FF0000"/>
                </a:solidFill>
              </a:rPr>
              <a:t>1</a:t>
            </a:r>
            <a:r>
              <a:rPr lang="ru-RU" sz="2400" b="1" dirty="0">
                <a:solidFill>
                  <a:srgbClr val="FF0000"/>
                </a:solidFill>
              </a:rPr>
              <a:t>:  </a:t>
            </a:r>
            <a:r>
              <a:rPr lang="ru-RU" sz="2400" b="1" dirty="0" err="1">
                <a:solidFill>
                  <a:srgbClr val="FF0000"/>
                </a:solidFill>
              </a:rPr>
              <a:t>ПортА</a:t>
            </a:r>
            <a:r>
              <a:rPr lang="ru-RU" sz="2400" b="1" dirty="0">
                <a:solidFill>
                  <a:srgbClr val="FF0000"/>
                </a:solidFill>
              </a:rPr>
              <a:t>:=</a:t>
            </a:r>
            <a:r>
              <a:rPr lang="ru-RU" sz="2400" b="1" dirty="0" err="1">
                <a:solidFill>
                  <a:srgbClr val="FF0000"/>
                </a:solidFill>
              </a:rPr>
              <a:t>СчАК</a:t>
            </a:r>
            <a:endParaRPr lang="ru-RU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1258888" y="0"/>
          <a:ext cx="6592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0"/>
                        <a:ext cx="6592887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5795963" y="5229225"/>
            <a:ext cx="3348037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arenR"/>
            </a:pPr>
            <a:r>
              <a:rPr lang="ru-RU" sz="2400" b="1" dirty="0"/>
              <a:t>у</a:t>
            </a:r>
            <a:r>
              <a:rPr lang="ru-RU" sz="2400" b="1" baseline="-25000" dirty="0"/>
              <a:t>1</a:t>
            </a:r>
            <a:r>
              <a:rPr lang="ru-RU" sz="2400" b="1" dirty="0"/>
              <a:t>:  </a:t>
            </a:r>
            <a:r>
              <a:rPr lang="ru-RU" sz="2400" b="1" dirty="0" err="1"/>
              <a:t>ПортА</a:t>
            </a:r>
            <a:r>
              <a:rPr lang="ru-RU" sz="2400" b="1" dirty="0"/>
              <a:t>:=</a:t>
            </a:r>
            <a:r>
              <a:rPr lang="ru-RU" sz="2400" b="1" dirty="0" err="1"/>
              <a:t>СчАК</a:t>
            </a:r>
            <a:endParaRPr lang="ru-RU" sz="2400" b="1" dirty="0"/>
          </a:p>
          <a:p>
            <a:pPr marL="342900" indent="-342900">
              <a:spcBef>
                <a:spcPct val="50000"/>
              </a:spcBef>
              <a:buFontTx/>
              <a:buAutoNum type="arabicParenR"/>
            </a:pPr>
            <a:r>
              <a:rPr lang="en-US" sz="2400" b="1" dirty="0">
                <a:solidFill>
                  <a:srgbClr val="FF0000"/>
                </a:solidFill>
              </a:rPr>
              <a:t>y</a:t>
            </a:r>
            <a:r>
              <a:rPr lang="ru-RU" sz="2400" b="1" baseline="-25000" dirty="0">
                <a:solidFill>
                  <a:srgbClr val="FF0000"/>
                </a:solidFill>
              </a:rPr>
              <a:t>2</a:t>
            </a:r>
            <a:r>
              <a:rPr lang="ru-RU" sz="2400" b="1" dirty="0">
                <a:solidFill>
                  <a:srgbClr val="FF0000"/>
                </a:solidFill>
              </a:rPr>
              <a:t>:  </a:t>
            </a:r>
            <a:r>
              <a:rPr lang="ru-RU" sz="2400" b="1" dirty="0" err="1">
                <a:solidFill>
                  <a:srgbClr val="FF0000"/>
                </a:solidFill>
              </a:rPr>
              <a:t>ЧтОП</a:t>
            </a:r>
            <a:endParaRPr lang="ru-RU" sz="2400" b="1" dirty="0">
              <a:solidFill>
                <a:srgbClr val="FF0000"/>
              </a:solidFill>
            </a:endParaRPr>
          </a:p>
          <a:p>
            <a:pPr marL="342900" indent="-342900">
              <a:spcBef>
                <a:spcPct val="50000"/>
              </a:spcBef>
            </a:pPr>
            <a:endParaRPr lang="ru-RU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805651"/>
              </p:ext>
            </p:extLst>
          </p:nvPr>
        </p:nvGraphicFramePr>
        <p:xfrm>
          <a:off x="1403648" y="-99392"/>
          <a:ext cx="659288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-99392"/>
                        <a:ext cx="6592888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" name="Text Box 5"/>
          <p:cNvSpPr txBox="1">
            <a:spLocks noChangeArrowheads="1"/>
          </p:cNvSpPr>
          <p:nvPr/>
        </p:nvSpPr>
        <p:spPr bwMode="auto">
          <a:xfrm>
            <a:off x="5940425" y="5084763"/>
            <a:ext cx="3203575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Aft>
                <a:spcPct val="10000"/>
              </a:spcAft>
            </a:pPr>
            <a:r>
              <a:rPr lang="ru-RU" sz="2400" b="1" dirty="0"/>
              <a:t>1) у</a:t>
            </a:r>
            <a:r>
              <a:rPr lang="ru-RU" sz="2400" b="1" baseline="-25000" dirty="0"/>
              <a:t>1</a:t>
            </a:r>
            <a:r>
              <a:rPr lang="ru-RU" sz="2400" b="1" dirty="0"/>
              <a:t>:  </a:t>
            </a:r>
            <a:r>
              <a:rPr lang="ru-RU" sz="2400" b="1" dirty="0" err="1"/>
              <a:t>ПортА</a:t>
            </a:r>
            <a:r>
              <a:rPr lang="ru-RU" sz="2400" b="1" dirty="0"/>
              <a:t>:=</a:t>
            </a:r>
            <a:r>
              <a:rPr lang="ru-RU" sz="2400" b="1" dirty="0" err="1"/>
              <a:t>СчАК</a:t>
            </a:r>
            <a:endParaRPr lang="ru-RU" sz="2400" b="1" dirty="0"/>
          </a:p>
          <a:p>
            <a:pPr marL="342900" indent="-342900">
              <a:spcAft>
                <a:spcPct val="10000"/>
              </a:spcAft>
            </a:pPr>
            <a:r>
              <a:rPr lang="ru-RU" sz="2400" b="1" dirty="0"/>
              <a:t>2) </a:t>
            </a:r>
            <a:r>
              <a:rPr lang="en-US" sz="2400" b="1" dirty="0"/>
              <a:t>y</a:t>
            </a:r>
            <a:r>
              <a:rPr lang="ru-RU" sz="2400" b="1" baseline="-25000" dirty="0"/>
              <a:t>2</a:t>
            </a:r>
            <a:r>
              <a:rPr lang="ru-RU" sz="2400" b="1" dirty="0"/>
              <a:t>:  </a:t>
            </a:r>
            <a:r>
              <a:rPr lang="ru-RU" sz="2400" b="1" dirty="0" err="1"/>
              <a:t>ЧтОП</a:t>
            </a:r>
            <a:endParaRPr lang="en-US" sz="2400" b="1" dirty="0"/>
          </a:p>
          <a:p>
            <a:pPr marL="342900" indent="-342900">
              <a:spcAft>
                <a:spcPct val="10000"/>
              </a:spcAft>
            </a:pPr>
            <a:r>
              <a:rPr lang="ru-RU" sz="2400" b="1" dirty="0">
                <a:solidFill>
                  <a:srgbClr val="FF0000"/>
                </a:solidFill>
              </a:rPr>
              <a:t>3) </a:t>
            </a:r>
            <a:r>
              <a:rPr lang="en-US" sz="2400" b="1" dirty="0">
                <a:solidFill>
                  <a:srgbClr val="FF0000"/>
                </a:solidFill>
              </a:rPr>
              <a:t>y</a:t>
            </a:r>
            <a:r>
              <a:rPr lang="en-US" sz="2400" b="1" baseline="-25000" dirty="0">
                <a:solidFill>
                  <a:srgbClr val="FF0000"/>
                </a:solidFill>
              </a:rPr>
              <a:t>3</a:t>
            </a:r>
            <a:r>
              <a:rPr lang="en-US" sz="2400" b="1" dirty="0">
                <a:solidFill>
                  <a:srgbClr val="FF0000"/>
                </a:solidFill>
              </a:rPr>
              <a:t>: </a:t>
            </a:r>
            <a:r>
              <a:rPr lang="ru-RU" sz="2400" b="1" dirty="0">
                <a:solidFill>
                  <a:srgbClr val="FF0000"/>
                </a:solidFill>
              </a:rPr>
              <a:t> РК:=ПортД</a:t>
            </a:r>
          </a:p>
          <a:p>
            <a:pPr marL="342900" indent="-342900">
              <a:spcBef>
                <a:spcPct val="50000"/>
              </a:spcBef>
            </a:pPr>
            <a:endParaRPr lang="ru-RU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4"/>
          <p:cNvSpPr txBox="1">
            <a:spLocks noChangeArrowheads="1"/>
          </p:cNvSpPr>
          <p:nvPr/>
        </p:nvSpPr>
        <p:spPr bwMode="auto">
          <a:xfrm>
            <a:off x="251520" y="2060848"/>
            <a:ext cx="8424863" cy="3776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4400" b="1" dirty="0"/>
              <a:t>Рабочий цикл процессора</a:t>
            </a:r>
          </a:p>
          <a:p>
            <a:pPr algn="ctr"/>
            <a:endParaRPr lang="ru-RU" sz="4400" b="1" dirty="0"/>
          </a:p>
          <a:p>
            <a:pPr algn="ctr"/>
            <a:r>
              <a:rPr lang="ru-RU" sz="4400" b="1" dirty="0"/>
              <a:t>2 этап. </a:t>
            </a:r>
          </a:p>
          <a:p>
            <a:pPr algn="ctr"/>
            <a:r>
              <a:rPr lang="ru-RU" sz="4400" b="1" dirty="0"/>
              <a:t>Выборка операндов из ОП</a:t>
            </a:r>
          </a:p>
          <a:p>
            <a:pPr>
              <a:spcBef>
                <a:spcPct val="50000"/>
              </a:spcBef>
            </a:pPr>
            <a:endParaRPr lang="ru-RU" sz="44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1258888" y="0"/>
          <a:ext cx="6592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0"/>
                        <a:ext cx="6592887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Text Box 5"/>
          <p:cNvSpPr txBox="1">
            <a:spLocks noChangeArrowheads="1"/>
          </p:cNvSpPr>
          <p:nvPr/>
        </p:nvSpPr>
        <p:spPr bwMode="auto">
          <a:xfrm>
            <a:off x="6084888" y="5084763"/>
            <a:ext cx="30591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="1" dirty="0">
                <a:solidFill>
                  <a:srgbClr val="FF0000"/>
                </a:solidFill>
              </a:rPr>
              <a:t>4) </a:t>
            </a:r>
            <a:r>
              <a:rPr lang="en-US" sz="2000" b="1" dirty="0">
                <a:solidFill>
                  <a:srgbClr val="FF0000"/>
                </a:solidFill>
              </a:rPr>
              <a:t>y</a:t>
            </a:r>
            <a:r>
              <a:rPr lang="en-US" sz="2000" b="1" baseline="-25000" dirty="0">
                <a:solidFill>
                  <a:srgbClr val="FF0000"/>
                </a:solidFill>
              </a:rPr>
              <a:t>4</a:t>
            </a:r>
            <a:r>
              <a:rPr lang="en-US" sz="2000" b="1" dirty="0">
                <a:solidFill>
                  <a:srgbClr val="FF0000"/>
                </a:solidFill>
              </a:rPr>
              <a:t>: </a:t>
            </a:r>
            <a:r>
              <a:rPr lang="ru-RU" sz="2000" b="1" dirty="0">
                <a:solidFill>
                  <a:srgbClr val="FF0000"/>
                </a:solidFill>
              </a:rPr>
              <a:t> </a:t>
            </a:r>
            <a:r>
              <a:rPr lang="ru-RU" sz="2000" b="1" dirty="0" err="1">
                <a:solidFill>
                  <a:srgbClr val="FF0000"/>
                </a:solidFill>
              </a:rPr>
              <a:t>ПортА</a:t>
            </a:r>
            <a:r>
              <a:rPr lang="ru-RU" sz="2000" b="1" dirty="0">
                <a:solidFill>
                  <a:srgbClr val="FF0000"/>
                </a:solidFill>
              </a:rPr>
              <a:t>:=</a:t>
            </a:r>
            <a:r>
              <a:rPr lang="en-US" sz="2000" b="1" dirty="0">
                <a:solidFill>
                  <a:srgbClr val="FF0000"/>
                </a:solidFill>
              </a:rPr>
              <a:t>A</a:t>
            </a:r>
            <a:r>
              <a:rPr lang="en-US" sz="2000" b="1" baseline="-25000" dirty="0">
                <a:solidFill>
                  <a:srgbClr val="FF0000"/>
                </a:solidFill>
              </a:rPr>
              <a:t>1</a:t>
            </a:r>
            <a:endParaRPr lang="ru-RU" sz="2000" b="1" baseline="-25000" dirty="0">
              <a:solidFill>
                <a:srgbClr val="FF0000"/>
              </a:solidFill>
            </a:endParaRPr>
          </a:p>
        </p:txBody>
      </p:sp>
      <p:sp>
        <p:nvSpPr>
          <p:cNvPr id="9220" name="Text Box 6"/>
          <p:cNvSpPr txBox="1">
            <a:spLocks noChangeArrowheads="1"/>
          </p:cNvSpPr>
          <p:nvPr/>
        </p:nvSpPr>
        <p:spPr bwMode="auto">
          <a:xfrm>
            <a:off x="0" y="0"/>
            <a:ext cx="31321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2.1. Выборка первого операнда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404885"/>
              </p:ext>
            </p:extLst>
          </p:nvPr>
        </p:nvGraphicFramePr>
        <p:xfrm>
          <a:off x="1322745" y="0"/>
          <a:ext cx="659288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745" y="0"/>
                        <a:ext cx="6592888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Text Box 5"/>
          <p:cNvSpPr txBox="1">
            <a:spLocks noChangeArrowheads="1"/>
          </p:cNvSpPr>
          <p:nvPr/>
        </p:nvSpPr>
        <p:spPr bwMode="auto">
          <a:xfrm>
            <a:off x="6011863" y="5084763"/>
            <a:ext cx="3132137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 dirty="0"/>
              <a:t>4) </a:t>
            </a:r>
            <a:r>
              <a:rPr lang="en-US" b="1" dirty="0"/>
              <a:t>y</a:t>
            </a:r>
            <a:r>
              <a:rPr lang="en-US" b="1" baseline="-25000" dirty="0"/>
              <a:t>4</a:t>
            </a:r>
            <a:r>
              <a:rPr lang="en-US" b="1" dirty="0"/>
              <a:t>: </a:t>
            </a:r>
            <a:r>
              <a:rPr lang="ru-RU" b="1" dirty="0"/>
              <a:t> </a:t>
            </a:r>
            <a:r>
              <a:rPr lang="ru-RU" b="1" dirty="0" err="1"/>
              <a:t>ПортА</a:t>
            </a:r>
            <a:r>
              <a:rPr lang="ru-RU" b="1" dirty="0"/>
              <a:t>:=</a:t>
            </a:r>
            <a:r>
              <a:rPr lang="en-US" b="1" dirty="0"/>
              <a:t>A</a:t>
            </a:r>
            <a:r>
              <a:rPr lang="en-US" b="1" baseline="-25000" dirty="0"/>
              <a:t>1</a:t>
            </a:r>
            <a:endParaRPr lang="ru-RU" b="1" baseline="-25000" dirty="0"/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FF0000"/>
                </a:solidFill>
              </a:rPr>
              <a:t>5) y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  <a:r>
              <a:rPr lang="en-US" b="1" dirty="0">
                <a:solidFill>
                  <a:srgbClr val="FF0000"/>
                </a:solidFill>
              </a:rPr>
              <a:t>:  </a:t>
            </a:r>
            <a:r>
              <a:rPr lang="ru-RU" b="1" dirty="0" err="1">
                <a:solidFill>
                  <a:srgbClr val="FF0000"/>
                </a:solidFill>
              </a:rPr>
              <a:t>ЧтОП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10244" name="Text Box 6"/>
          <p:cNvSpPr txBox="1">
            <a:spLocks noChangeArrowheads="1"/>
          </p:cNvSpPr>
          <p:nvPr/>
        </p:nvSpPr>
        <p:spPr bwMode="auto">
          <a:xfrm>
            <a:off x="0" y="0"/>
            <a:ext cx="27003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 dirty="0"/>
              <a:t>2.1. Выборка первого операнда</a:t>
            </a:r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4"/>
          <p:cNvGraphicFramePr>
            <a:graphicFrameLocks noChangeAspect="1"/>
          </p:cNvGraphicFramePr>
          <p:nvPr/>
        </p:nvGraphicFramePr>
        <p:xfrm>
          <a:off x="1258888" y="0"/>
          <a:ext cx="6592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0"/>
                        <a:ext cx="6592887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Text Box 5"/>
          <p:cNvSpPr txBox="1">
            <a:spLocks noChangeArrowheads="1"/>
          </p:cNvSpPr>
          <p:nvPr/>
        </p:nvSpPr>
        <p:spPr bwMode="auto">
          <a:xfrm>
            <a:off x="0" y="0"/>
            <a:ext cx="27003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2.1. Выборка первого операнда</a:t>
            </a:r>
            <a:endParaRPr lang="ru-RU"/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6156325" y="5300663"/>
            <a:ext cx="298767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10000"/>
              </a:spcAft>
            </a:pPr>
            <a:r>
              <a:rPr lang="ru-RU" sz="2000" b="1" dirty="0"/>
              <a:t>4) </a:t>
            </a:r>
            <a:r>
              <a:rPr lang="en-US" sz="2000" b="1" dirty="0"/>
              <a:t>y</a:t>
            </a:r>
            <a:r>
              <a:rPr lang="en-US" sz="2000" b="1" baseline="-25000" dirty="0"/>
              <a:t>4</a:t>
            </a:r>
            <a:r>
              <a:rPr lang="en-US" sz="2000" b="1" dirty="0"/>
              <a:t>: </a:t>
            </a:r>
            <a:r>
              <a:rPr lang="ru-RU" sz="2000" b="1" dirty="0"/>
              <a:t> </a:t>
            </a:r>
            <a:r>
              <a:rPr lang="ru-RU" sz="2000" b="1" dirty="0" err="1"/>
              <a:t>ПортА</a:t>
            </a:r>
            <a:r>
              <a:rPr lang="ru-RU" sz="2000" b="1" dirty="0"/>
              <a:t>:=</a:t>
            </a:r>
            <a:r>
              <a:rPr lang="en-US" sz="2000" b="1" dirty="0"/>
              <a:t>A</a:t>
            </a:r>
            <a:r>
              <a:rPr lang="en-US" sz="2000" b="1" baseline="-25000" dirty="0"/>
              <a:t>1</a:t>
            </a:r>
            <a:endParaRPr lang="ru-RU" sz="2000" b="1" baseline="-25000" dirty="0"/>
          </a:p>
          <a:p>
            <a:pPr>
              <a:spcAft>
                <a:spcPct val="10000"/>
              </a:spcAft>
            </a:pPr>
            <a:r>
              <a:rPr lang="en-US" sz="2000" b="1" dirty="0"/>
              <a:t>5) y</a:t>
            </a:r>
            <a:r>
              <a:rPr lang="en-US" sz="2000" b="1" baseline="-25000" dirty="0"/>
              <a:t>2</a:t>
            </a:r>
            <a:r>
              <a:rPr lang="en-US" sz="2000" b="1" dirty="0"/>
              <a:t>:  </a:t>
            </a:r>
            <a:r>
              <a:rPr lang="ru-RU" sz="2000" b="1" dirty="0" err="1"/>
              <a:t>ЧтОП</a:t>
            </a:r>
            <a:endParaRPr lang="ru-RU" sz="2000" b="1" dirty="0"/>
          </a:p>
          <a:p>
            <a:pPr>
              <a:spcAft>
                <a:spcPct val="10000"/>
              </a:spcAft>
            </a:pPr>
            <a:r>
              <a:rPr lang="ru-RU" sz="2000" b="1" dirty="0">
                <a:solidFill>
                  <a:srgbClr val="FF0000"/>
                </a:solidFill>
              </a:rPr>
              <a:t>6) </a:t>
            </a:r>
            <a:r>
              <a:rPr lang="en-US" sz="2000" b="1" dirty="0">
                <a:solidFill>
                  <a:srgbClr val="FF0000"/>
                </a:solidFill>
              </a:rPr>
              <a:t>y</a:t>
            </a:r>
            <a:r>
              <a:rPr lang="en-US" sz="2000" b="1" baseline="-25000" dirty="0">
                <a:solidFill>
                  <a:srgbClr val="FF0000"/>
                </a:solidFill>
              </a:rPr>
              <a:t>5</a:t>
            </a:r>
            <a:r>
              <a:rPr lang="en-US" sz="2000" b="1" dirty="0">
                <a:solidFill>
                  <a:srgbClr val="FF0000"/>
                </a:solidFill>
              </a:rPr>
              <a:t>:  P1:=</a:t>
            </a:r>
            <a:r>
              <a:rPr lang="ru-RU" sz="2000" b="1" dirty="0">
                <a:solidFill>
                  <a:srgbClr val="FF0000"/>
                </a:solidFill>
              </a:rPr>
              <a:t>ПортД</a:t>
            </a:r>
            <a:endParaRPr lang="ru-RU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5"/>
          <p:cNvSpPr txBox="1">
            <a:spLocks noChangeArrowheads="1"/>
          </p:cNvSpPr>
          <p:nvPr/>
        </p:nvSpPr>
        <p:spPr bwMode="auto">
          <a:xfrm>
            <a:off x="0" y="0"/>
            <a:ext cx="32035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 dirty="0"/>
              <a:t>2.2. Выборка второго операнда</a:t>
            </a:r>
          </a:p>
        </p:txBody>
      </p:sp>
      <p:sp>
        <p:nvSpPr>
          <p:cNvPr id="12292" name="Text Box 6"/>
          <p:cNvSpPr txBox="1">
            <a:spLocks noChangeArrowheads="1"/>
          </p:cNvSpPr>
          <p:nvPr/>
        </p:nvSpPr>
        <p:spPr bwMode="auto">
          <a:xfrm>
            <a:off x="6732240" y="5301208"/>
            <a:ext cx="2987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="1" dirty="0">
                <a:solidFill>
                  <a:srgbClr val="FF0000"/>
                </a:solidFill>
              </a:rPr>
              <a:t>7) </a:t>
            </a:r>
            <a:r>
              <a:rPr lang="en-US" sz="2000" b="1" dirty="0">
                <a:solidFill>
                  <a:srgbClr val="FF0000"/>
                </a:solidFill>
              </a:rPr>
              <a:t>y</a:t>
            </a:r>
            <a:r>
              <a:rPr lang="en-US" sz="2000" b="1" baseline="-25000" dirty="0">
                <a:solidFill>
                  <a:srgbClr val="FF0000"/>
                </a:solidFill>
              </a:rPr>
              <a:t>6</a:t>
            </a:r>
            <a:r>
              <a:rPr lang="en-US" sz="2000" b="1" dirty="0">
                <a:solidFill>
                  <a:srgbClr val="FF0000"/>
                </a:solidFill>
              </a:rPr>
              <a:t>:  </a:t>
            </a:r>
            <a:r>
              <a:rPr lang="ru-RU" sz="2000" b="1" dirty="0" err="1">
                <a:solidFill>
                  <a:srgbClr val="FF0000"/>
                </a:solidFill>
              </a:rPr>
              <a:t>ПортА</a:t>
            </a:r>
            <a:r>
              <a:rPr lang="ru-RU" sz="2000" b="1" dirty="0">
                <a:solidFill>
                  <a:srgbClr val="FF0000"/>
                </a:solidFill>
              </a:rPr>
              <a:t>:=</a:t>
            </a:r>
            <a:r>
              <a:rPr lang="en-US" sz="2000" b="1" dirty="0">
                <a:solidFill>
                  <a:srgbClr val="FF0000"/>
                </a:solidFill>
              </a:rPr>
              <a:t>A</a:t>
            </a:r>
            <a:r>
              <a:rPr lang="en-US" sz="2000" b="1" baseline="-25000" dirty="0">
                <a:solidFill>
                  <a:srgbClr val="FF0000"/>
                </a:solidFill>
              </a:rPr>
              <a:t>2</a:t>
            </a:r>
            <a:endParaRPr lang="ru-RU" sz="2000" b="1" baseline="-25000" dirty="0">
              <a:solidFill>
                <a:srgbClr val="FF0000"/>
              </a:solidFill>
            </a:endParaRPr>
          </a:p>
        </p:txBody>
      </p:sp>
      <p:graphicFrame>
        <p:nvGraphicFramePr>
          <p:cNvPr id="1229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238603"/>
              </p:ext>
            </p:extLst>
          </p:nvPr>
        </p:nvGraphicFramePr>
        <p:xfrm>
          <a:off x="539750" y="-100013"/>
          <a:ext cx="6592888" cy="6858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-100013"/>
                        <a:ext cx="6592888" cy="6858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5"/>
          <p:cNvGraphicFramePr>
            <a:graphicFrameLocks noChangeAspect="1"/>
          </p:cNvGraphicFramePr>
          <p:nvPr/>
        </p:nvGraphicFramePr>
        <p:xfrm>
          <a:off x="1276350" y="0"/>
          <a:ext cx="659288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0"/>
                        <a:ext cx="6592888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Text Box 6"/>
          <p:cNvSpPr txBox="1">
            <a:spLocks noChangeArrowheads="1"/>
          </p:cNvSpPr>
          <p:nvPr/>
        </p:nvSpPr>
        <p:spPr bwMode="auto">
          <a:xfrm>
            <a:off x="6084888" y="5157788"/>
            <a:ext cx="3059112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="1" dirty="0"/>
              <a:t>7) </a:t>
            </a:r>
            <a:r>
              <a:rPr lang="en-US" sz="2000" b="1" dirty="0"/>
              <a:t>y</a:t>
            </a:r>
            <a:r>
              <a:rPr lang="en-US" sz="2000" b="1" baseline="-25000" dirty="0"/>
              <a:t>6</a:t>
            </a:r>
            <a:r>
              <a:rPr lang="en-US" sz="2000" b="1" dirty="0"/>
              <a:t>:  </a:t>
            </a:r>
            <a:r>
              <a:rPr lang="ru-RU" sz="2000" b="1" dirty="0" err="1"/>
              <a:t>ПортА</a:t>
            </a:r>
            <a:r>
              <a:rPr lang="ru-RU" sz="2000" b="1" dirty="0"/>
              <a:t>:=</a:t>
            </a:r>
            <a:r>
              <a:rPr lang="en-US" sz="2000" b="1" dirty="0"/>
              <a:t>A</a:t>
            </a:r>
            <a:r>
              <a:rPr lang="en-US" sz="2000" b="1" baseline="-25000" dirty="0"/>
              <a:t>2</a:t>
            </a:r>
            <a:endParaRPr lang="ru-RU" sz="2000" b="1" baseline="-25000" dirty="0"/>
          </a:p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FF0000"/>
                </a:solidFill>
              </a:rPr>
              <a:t>8) y</a:t>
            </a:r>
            <a:r>
              <a:rPr lang="en-US" sz="2000" b="1" baseline="-25000" dirty="0">
                <a:solidFill>
                  <a:srgbClr val="FF0000"/>
                </a:solidFill>
              </a:rPr>
              <a:t>2</a:t>
            </a:r>
            <a:r>
              <a:rPr lang="en-US" sz="2000" b="1" dirty="0">
                <a:solidFill>
                  <a:srgbClr val="FF0000"/>
                </a:solidFill>
              </a:rPr>
              <a:t>:   </a:t>
            </a:r>
            <a:r>
              <a:rPr lang="ru-RU" sz="2000" b="1" dirty="0" err="1">
                <a:solidFill>
                  <a:srgbClr val="FF0000"/>
                </a:solidFill>
              </a:rPr>
              <a:t>ЧтОП</a:t>
            </a:r>
            <a:endParaRPr lang="ru-RU" sz="2000" b="1" dirty="0">
              <a:solidFill>
                <a:srgbClr val="FF0000"/>
              </a:solidFill>
            </a:endParaRPr>
          </a:p>
        </p:txBody>
      </p:sp>
      <p:sp>
        <p:nvSpPr>
          <p:cNvPr id="13316" name="Text Box 7"/>
          <p:cNvSpPr txBox="1">
            <a:spLocks noChangeArrowheads="1"/>
          </p:cNvSpPr>
          <p:nvPr/>
        </p:nvSpPr>
        <p:spPr bwMode="auto">
          <a:xfrm>
            <a:off x="0" y="0"/>
            <a:ext cx="3276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2.2. Выборка второго операнда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5"/>
          <p:cNvSpPr txBox="1">
            <a:spLocks noChangeArrowheads="1"/>
          </p:cNvSpPr>
          <p:nvPr/>
        </p:nvSpPr>
        <p:spPr bwMode="auto">
          <a:xfrm>
            <a:off x="0" y="0"/>
            <a:ext cx="33480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2.2. Выборка второго операнда</a:t>
            </a:r>
            <a:endParaRPr lang="ru-RU"/>
          </a:p>
        </p:txBody>
      </p:sp>
      <p:sp>
        <p:nvSpPr>
          <p:cNvPr id="14340" name="Text Box 7"/>
          <p:cNvSpPr txBox="1">
            <a:spLocks noChangeArrowheads="1"/>
          </p:cNvSpPr>
          <p:nvPr/>
        </p:nvSpPr>
        <p:spPr bwMode="auto">
          <a:xfrm>
            <a:off x="4140200" y="2997200"/>
            <a:ext cx="7921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ru-RU"/>
          </a:p>
        </p:txBody>
      </p:sp>
      <p:sp>
        <p:nvSpPr>
          <p:cNvPr id="14341" name="Text Box 10"/>
          <p:cNvSpPr txBox="1">
            <a:spLocks noChangeArrowheads="1"/>
          </p:cNvSpPr>
          <p:nvPr/>
        </p:nvSpPr>
        <p:spPr bwMode="auto">
          <a:xfrm>
            <a:off x="6430169" y="5157192"/>
            <a:ext cx="2843212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15000"/>
              </a:spcAft>
            </a:pPr>
            <a:r>
              <a:rPr lang="ru-RU" sz="2000" b="1" dirty="0"/>
              <a:t>7) </a:t>
            </a:r>
            <a:r>
              <a:rPr lang="en-US" sz="2000" b="1" dirty="0"/>
              <a:t>y</a:t>
            </a:r>
            <a:r>
              <a:rPr lang="en-US" sz="2000" b="1" baseline="-25000" dirty="0"/>
              <a:t>6</a:t>
            </a:r>
            <a:r>
              <a:rPr lang="en-US" sz="2000" b="1" dirty="0"/>
              <a:t>:  </a:t>
            </a:r>
            <a:r>
              <a:rPr lang="ru-RU" sz="2000" b="1" dirty="0" err="1"/>
              <a:t>ПортА</a:t>
            </a:r>
            <a:r>
              <a:rPr lang="ru-RU" sz="2000" b="1" dirty="0"/>
              <a:t>:=</a:t>
            </a:r>
            <a:r>
              <a:rPr lang="en-US" sz="2000" b="1" dirty="0"/>
              <a:t>A</a:t>
            </a:r>
            <a:r>
              <a:rPr lang="en-US" sz="2000" b="1" baseline="-25000" dirty="0"/>
              <a:t>2</a:t>
            </a:r>
            <a:endParaRPr lang="ru-RU" sz="2000" b="1" baseline="-25000" dirty="0"/>
          </a:p>
          <a:p>
            <a:pPr>
              <a:spcAft>
                <a:spcPct val="15000"/>
              </a:spcAft>
            </a:pPr>
            <a:r>
              <a:rPr lang="en-US" sz="2000" b="1" dirty="0"/>
              <a:t>8) y</a:t>
            </a:r>
            <a:r>
              <a:rPr lang="en-US" sz="2000" b="1" baseline="-25000" dirty="0"/>
              <a:t>2</a:t>
            </a:r>
            <a:r>
              <a:rPr lang="en-US" sz="2000" b="1" dirty="0"/>
              <a:t>:  </a:t>
            </a:r>
            <a:r>
              <a:rPr lang="ru-RU" sz="2000" b="1" dirty="0" err="1"/>
              <a:t>ЧтОП</a:t>
            </a:r>
            <a:endParaRPr lang="ru-RU" sz="2000" b="1" dirty="0"/>
          </a:p>
          <a:p>
            <a:pPr>
              <a:spcAft>
                <a:spcPct val="15000"/>
              </a:spcAft>
            </a:pPr>
            <a:r>
              <a:rPr lang="ru-RU" sz="2000" b="1" dirty="0">
                <a:solidFill>
                  <a:srgbClr val="FF0000"/>
                </a:solidFill>
              </a:rPr>
              <a:t>9) </a:t>
            </a:r>
            <a:r>
              <a:rPr lang="en-US" sz="2000" b="1" dirty="0">
                <a:solidFill>
                  <a:srgbClr val="FF0000"/>
                </a:solidFill>
              </a:rPr>
              <a:t>y</a:t>
            </a:r>
            <a:r>
              <a:rPr lang="en-US" sz="2000" b="1" baseline="-25000" dirty="0">
                <a:solidFill>
                  <a:srgbClr val="FF0000"/>
                </a:solidFill>
              </a:rPr>
              <a:t>7</a:t>
            </a:r>
            <a:r>
              <a:rPr lang="en-US" sz="2000" b="1" dirty="0">
                <a:solidFill>
                  <a:srgbClr val="FF0000"/>
                </a:solidFill>
              </a:rPr>
              <a:t>:  P2:=</a:t>
            </a:r>
            <a:r>
              <a:rPr lang="ru-RU" sz="2000" b="1" dirty="0">
                <a:solidFill>
                  <a:srgbClr val="FF0000"/>
                </a:solidFill>
              </a:rPr>
              <a:t>ПортД</a:t>
            </a:r>
            <a:endParaRPr lang="ru-RU" sz="2000" dirty="0"/>
          </a:p>
        </p:txBody>
      </p:sp>
      <p:graphicFrame>
        <p:nvGraphicFramePr>
          <p:cNvPr id="14338" name="Object 11"/>
          <p:cNvGraphicFramePr>
            <a:graphicFrameLocks noChangeAspect="1"/>
          </p:cNvGraphicFramePr>
          <p:nvPr/>
        </p:nvGraphicFramePr>
        <p:xfrm>
          <a:off x="1258888" y="0"/>
          <a:ext cx="6592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0"/>
                        <a:ext cx="6592887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4"/>
          <p:cNvSpPr txBox="1">
            <a:spLocks noChangeArrowheads="1"/>
          </p:cNvSpPr>
          <p:nvPr/>
        </p:nvSpPr>
        <p:spPr bwMode="auto">
          <a:xfrm>
            <a:off x="611188" y="1341438"/>
            <a:ext cx="7848600" cy="444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4400" b="1" dirty="0"/>
              <a:t>Рабочий цикл процессора</a:t>
            </a:r>
          </a:p>
          <a:p>
            <a:pPr algn="ctr"/>
            <a:endParaRPr lang="ru-RU" sz="4400" b="1" dirty="0"/>
          </a:p>
          <a:p>
            <a:pPr algn="ctr"/>
            <a:r>
              <a:rPr lang="ru-RU" sz="4400" b="1" dirty="0"/>
              <a:t>3 этап. </a:t>
            </a:r>
          </a:p>
          <a:p>
            <a:pPr algn="ctr"/>
            <a:r>
              <a:rPr lang="ru-RU" sz="4400" b="1" dirty="0"/>
              <a:t>Выполнение операции в АЛУ</a:t>
            </a:r>
          </a:p>
          <a:p>
            <a:pPr>
              <a:spcBef>
                <a:spcPct val="50000"/>
              </a:spcBef>
            </a:pPr>
            <a:endParaRPr lang="ru-RU" sz="4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758264"/>
              </p:ext>
            </p:extLst>
          </p:nvPr>
        </p:nvGraphicFramePr>
        <p:xfrm>
          <a:off x="188769" y="0"/>
          <a:ext cx="6592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Visio" r:id="rId4" imgW="7307839" imgH="7554901" progId="Visio.Drawing.11">
                  <p:embed/>
                </p:oleObj>
              </mc:Choice>
              <mc:Fallback>
                <p:oleObj name="Visio" r:id="rId4" imgW="7307839" imgH="755490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69" y="0"/>
                        <a:ext cx="6592887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 Box 8"/>
          <p:cNvSpPr txBox="1">
            <a:spLocks noChangeArrowheads="1"/>
          </p:cNvSpPr>
          <p:nvPr/>
        </p:nvSpPr>
        <p:spPr bwMode="auto">
          <a:xfrm>
            <a:off x="6659563" y="188913"/>
            <a:ext cx="2484437" cy="503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dirty="0">
                <a:solidFill>
                  <a:srgbClr val="FF0000"/>
                </a:solidFill>
              </a:rPr>
              <a:t>Значение в части РК, соответствующей КОП, расшифровывается на </a:t>
            </a:r>
            <a:r>
              <a:rPr lang="en-US" dirty="0">
                <a:solidFill>
                  <a:srgbClr val="FF0000"/>
                </a:solidFill>
              </a:rPr>
              <a:t>DC. </a:t>
            </a:r>
            <a:r>
              <a:rPr lang="ru-RU" dirty="0">
                <a:solidFill>
                  <a:srgbClr val="FF0000"/>
                </a:solidFill>
              </a:rPr>
              <a:t>На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ru-RU" dirty="0" err="1">
                <a:solidFill>
                  <a:srgbClr val="FF0000"/>
                </a:solidFill>
              </a:rPr>
              <a:t>соот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ru-RU" dirty="0" err="1">
                <a:solidFill>
                  <a:srgbClr val="FF0000"/>
                </a:solidFill>
              </a:rPr>
              <a:t>ветствующем</a:t>
            </a:r>
            <a:r>
              <a:rPr lang="ru-RU" dirty="0">
                <a:solidFill>
                  <a:srgbClr val="FF0000"/>
                </a:solidFill>
              </a:rPr>
              <a:t>   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ru-RU" dirty="0">
                <a:solidFill>
                  <a:srgbClr val="FF0000"/>
                </a:solidFill>
              </a:rPr>
              <a:t>-ом выходе </a:t>
            </a:r>
            <a:r>
              <a:rPr lang="en-US" dirty="0">
                <a:solidFill>
                  <a:srgbClr val="FF0000"/>
                </a:solidFill>
              </a:rPr>
              <a:t>DC </a:t>
            </a:r>
            <a:r>
              <a:rPr lang="ru-RU" dirty="0">
                <a:solidFill>
                  <a:srgbClr val="FF0000"/>
                </a:solidFill>
              </a:rPr>
              <a:t>формируется осведомительный сигнал </a:t>
            </a:r>
            <a:r>
              <a:rPr lang="en-US" b="1" dirty="0">
                <a:solidFill>
                  <a:srgbClr val="FF0000"/>
                </a:solidFill>
              </a:rPr>
              <a:t>x</a:t>
            </a:r>
            <a:r>
              <a:rPr lang="en-US" b="1" baseline="-25000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=1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ru-RU" dirty="0">
                <a:solidFill>
                  <a:srgbClr val="FF0000"/>
                </a:solidFill>
              </a:rPr>
              <a:t>УУиС, проанализировав сигналы на своих входах </a:t>
            </a:r>
            <a:r>
              <a:rPr lang="en-US" b="1" dirty="0">
                <a:solidFill>
                  <a:srgbClr val="FF0000"/>
                </a:solidFill>
              </a:rPr>
              <a:t>x</a:t>
            </a:r>
            <a:r>
              <a:rPr lang="en-US" b="1" baseline="-25000" dirty="0">
                <a:solidFill>
                  <a:srgbClr val="FF0000"/>
                </a:solidFill>
              </a:rPr>
              <a:t>1</a:t>
            </a:r>
            <a:r>
              <a:rPr lang="en-US" b="1" dirty="0">
                <a:solidFill>
                  <a:srgbClr val="FF0000"/>
                </a:solidFill>
                <a:cs typeface="Arial" charset="0"/>
              </a:rPr>
              <a:t>−x</a:t>
            </a:r>
            <a:r>
              <a:rPr lang="en-US" b="1" baseline="-25000" dirty="0">
                <a:solidFill>
                  <a:srgbClr val="FF0000"/>
                </a:solidFill>
                <a:cs typeface="Arial" charset="0"/>
              </a:rPr>
              <a:t>k</a:t>
            </a:r>
            <a:r>
              <a:rPr lang="ru-RU" dirty="0">
                <a:solidFill>
                  <a:srgbClr val="FF0000"/>
                </a:solidFill>
                <a:cs typeface="Arial" charset="0"/>
              </a:rPr>
              <a:t>, в ответ на входной сигнал </a:t>
            </a:r>
            <a:r>
              <a:rPr lang="en-US" b="1" dirty="0">
                <a:solidFill>
                  <a:srgbClr val="FF0000"/>
                </a:solidFill>
                <a:cs typeface="Arial" charset="0"/>
              </a:rPr>
              <a:t>x</a:t>
            </a:r>
            <a:r>
              <a:rPr lang="en-US" b="1" baseline="-25000" dirty="0">
                <a:solidFill>
                  <a:srgbClr val="FF0000"/>
                </a:solidFill>
                <a:cs typeface="Arial" charset="0"/>
              </a:rPr>
              <a:t>i</a:t>
            </a:r>
            <a:r>
              <a:rPr lang="en-US" b="1" dirty="0">
                <a:solidFill>
                  <a:srgbClr val="FF0000"/>
                </a:solidFill>
                <a:cs typeface="Arial" charset="0"/>
              </a:rPr>
              <a:t>=1</a:t>
            </a:r>
            <a:r>
              <a:rPr lang="ru-RU" dirty="0">
                <a:solidFill>
                  <a:srgbClr val="FF0000"/>
                </a:solidFill>
                <a:cs typeface="Arial" charset="0"/>
              </a:rPr>
              <a:t> выдает выходной сигнал </a:t>
            </a:r>
            <a:r>
              <a:rPr lang="en-US" b="1" dirty="0" err="1">
                <a:solidFill>
                  <a:srgbClr val="FF0000"/>
                </a:solidFill>
                <a:cs typeface="Arial" charset="0"/>
              </a:rPr>
              <a:t>y</a:t>
            </a:r>
            <a:r>
              <a:rPr lang="en-US" b="1" baseline="-25000" dirty="0" err="1">
                <a:solidFill>
                  <a:srgbClr val="FF0000"/>
                </a:solidFill>
                <a:cs typeface="Arial" charset="0"/>
              </a:rPr>
              <a:t>i</a:t>
            </a:r>
            <a:r>
              <a:rPr lang="ru-RU" b="1" baseline="30000" dirty="0">
                <a:solidFill>
                  <a:srgbClr val="FF0000"/>
                </a:solidFill>
                <a:cs typeface="Arial" charset="0"/>
              </a:rPr>
              <a:t>АЛУ</a:t>
            </a:r>
            <a:r>
              <a:rPr lang="en-US" b="1" dirty="0">
                <a:solidFill>
                  <a:srgbClr val="FF0000"/>
                </a:solidFill>
                <a:cs typeface="Arial" charset="0"/>
              </a:rPr>
              <a:t>=1</a:t>
            </a:r>
            <a:r>
              <a:rPr lang="en-US" dirty="0">
                <a:solidFill>
                  <a:srgbClr val="FF0000"/>
                </a:solidFill>
                <a:cs typeface="Arial" charset="0"/>
              </a:rPr>
              <a:t>. </a:t>
            </a:r>
            <a:r>
              <a:rPr lang="ru-RU" dirty="0">
                <a:solidFill>
                  <a:srgbClr val="FF0000"/>
                </a:solidFill>
                <a:cs typeface="Arial" charset="0"/>
              </a:rPr>
              <a:t>Этот управляющий сигнал</a:t>
            </a:r>
            <a:endParaRPr lang="en-US" dirty="0">
              <a:solidFill>
                <a:srgbClr val="FF0000"/>
              </a:solidFill>
              <a:cs typeface="Arial" charset="0"/>
            </a:endParaRPr>
          </a:p>
        </p:txBody>
      </p:sp>
      <p:sp>
        <p:nvSpPr>
          <p:cNvPr id="15365" name="Text Box 9"/>
          <p:cNvSpPr txBox="1">
            <a:spLocks noChangeArrowheads="1"/>
          </p:cNvSpPr>
          <p:nvPr/>
        </p:nvSpPr>
        <p:spPr bwMode="auto">
          <a:xfrm>
            <a:off x="4500563" y="5118100"/>
            <a:ext cx="4643437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dirty="0">
                <a:solidFill>
                  <a:srgbClr val="FF0000"/>
                </a:solidFill>
              </a:rPr>
              <a:t>поступает  на АЛУ, в котором инициирует выполнение микропрограммы для требуемой операции. АЛУ выполняет микропрограмму под управлением своего УУ и помещает результат в аккумулятор </a:t>
            </a:r>
            <a:r>
              <a:rPr lang="en-US" dirty="0">
                <a:solidFill>
                  <a:srgbClr val="FF0000"/>
                </a:solidFill>
              </a:rPr>
              <a:t>P1.</a:t>
            </a:r>
            <a:endParaRPr lang="ru-RU" dirty="0">
              <a:solidFill>
                <a:srgbClr val="FF0000"/>
              </a:solidFill>
            </a:endParaRPr>
          </a:p>
        </p:txBody>
      </p:sp>
      <p:graphicFrame>
        <p:nvGraphicFramePr>
          <p:cNvPr id="15363" name="Object 10"/>
          <p:cNvGraphicFramePr>
            <a:graphicFrameLocks noChangeAspect="1"/>
          </p:cNvGraphicFramePr>
          <p:nvPr/>
        </p:nvGraphicFramePr>
        <p:xfrm>
          <a:off x="755650" y="0"/>
          <a:ext cx="497522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Формула" r:id="rId6" imgW="4051080" imgH="291960" progId="Equation.3">
                  <p:embed/>
                </p:oleObj>
              </mc:Choice>
              <mc:Fallback>
                <p:oleObj name="Формула" r:id="rId6" imgW="4051080" imgH="2919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0"/>
                        <a:ext cx="4975225" cy="3587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Text Box 11"/>
          <p:cNvSpPr txBox="1">
            <a:spLocks noChangeArrowheads="1"/>
          </p:cNvSpPr>
          <p:nvPr/>
        </p:nvSpPr>
        <p:spPr bwMode="auto">
          <a:xfrm>
            <a:off x="179388" y="0"/>
            <a:ext cx="5762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000" b="1"/>
              <a:t>10)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4"/>
          <p:cNvSpPr txBox="1">
            <a:spLocks noChangeArrowheads="1"/>
          </p:cNvSpPr>
          <p:nvPr/>
        </p:nvSpPr>
        <p:spPr bwMode="auto">
          <a:xfrm>
            <a:off x="755650" y="908050"/>
            <a:ext cx="81375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ru-RU"/>
          </a:p>
        </p:txBody>
      </p:sp>
      <p:sp>
        <p:nvSpPr>
          <p:cNvPr id="53251" name="Text Box 5"/>
          <p:cNvSpPr txBox="1">
            <a:spLocks noChangeArrowheads="1"/>
          </p:cNvSpPr>
          <p:nvPr/>
        </p:nvSpPr>
        <p:spPr bwMode="auto">
          <a:xfrm>
            <a:off x="539750" y="1916113"/>
            <a:ext cx="8424863" cy="444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4400" b="1" dirty="0"/>
              <a:t>Рабочий цикл процессора</a:t>
            </a:r>
          </a:p>
          <a:p>
            <a:pPr algn="ctr"/>
            <a:endParaRPr lang="ru-RU" sz="4400" b="1" dirty="0"/>
          </a:p>
          <a:p>
            <a:pPr algn="ctr"/>
            <a:r>
              <a:rPr lang="ru-RU" sz="4400" b="1" dirty="0"/>
              <a:t>4 этап. </a:t>
            </a:r>
          </a:p>
          <a:p>
            <a:pPr algn="ctr"/>
            <a:r>
              <a:rPr lang="ru-RU" sz="4400" b="1" dirty="0"/>
              <a:t>Запись результата в ОП</a:t>
            </a:r>
          </a:p>
          <a:p>
            <a:pPr algn="ctr"/>
            <a:r>
              <a:rPr lang="ru-RU" sz="4400" b="1" dirty="0"/>
              <a:t>(на место первого операнда)</a:t>
            </a:r>
          </a:p>
          <a:p>
            <a:pPr>
              <a:spcBef>
                <a:spcPct val="50000"/>
              </a:spcBef>
            </a:pPr>
            <a:endParaRPr lang="ru-RU" sz="44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6"/>
          <p:cNvGraphicFramePr>
            <a:graphicFrameLocks noChangeAspect="1"/>
          </p:cNvGraphicFramePr>
          <p:nvPr/>
        </p:nvGraphicFramePr>
        <p:xfrm>
          <a:off x="1116013" y="0"/>
          <a:ext cx="6594475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0"/>
                        <a:ext cx="6594475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Text Box 7"/>
          <p:cNvSpPr txBox="1">
            <a:spLocks noChangeArrowheads="1"/>
          </p:cNvSpPr>
          <p:nvPr/>
        </p:nvSpPr>
        <p:spPr bwMode="auto">
          <a:xfrm>
            <a:off x="6011863" y="5157788"/>
            <a:ext cx="3132137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arenR" startAt="11"/>
            </a:pPr>
            <a:r>
              <a:rPr lang="ru-RU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y</a:t>
            </a:r>
            <a:r>
              <a:rPr lang="en-US" sz="2000" b="1" baseline="-25000" dirty="0">
                <a:solidFill>
                  <a:srgbClr val="FF0000"/>
                </a:solidFill>
              </a:rPr>
              <a:t>8</a:t>
            </a:r>
            <a:r>
              <a:rPr lang="en-US" sz="2000" b="1" dirty="0">
                <a:solidFill>
                  <a:srgbClr val="FF0000"/>
                </a:solidFill>
              </a:rPr>
              <a:t>:  </a:t>
            </a:r>
            <a:r>
              <a:rPr lang="ru-RU" sz="2000" b="1" dirty="0">
                <a:solidFill>
                  <a:srgbClr val="FF0000"/>
                </a:solidFill>
              </a:rPr>
              <a:t>ПортД:=Р1</a:t>
            </a:r>
          </a:p>
          <a:p>
            <a:pPr marL="342900" indent="-342900">
              <a:spcBef>
                <a:spcPct val="50000"/>
              </a:spcBef>
            </a:pPr>
            <a:endParaRPr lang="ru-RU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4"/>
          <p:cNvGraphicFramePr>
            <a:graphicFrameLocks noChangeAspect="1"/>
          </p:cNvGraphicFramePr>
          <p:nvPr/>
        </p:nvGraphicFramePr>
        <p:xfrm>
          <a:off x="1258888" y="0"/>
          <a:ext cx="6592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0"/>
                        <a:ext cx="6592887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" name="Text Box 5"/>
          <p:cNvSpPr txBox="1">
            <a:spLocks noChangeArrowheads="1"/>
          </p:cNvSpPr>
          <p:nvPr/>
        </p:nvSpPr>
        <p:spPr bwMode="auto">
          <a:xfrm>
            <a:off x="6156325" y="5157788"/>
            <a:ext cx="2987675" cy="119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arenR" startAt="11"/>
            </a:pPr>
            <a:r>
              <a:rPr lang="ru-RU" b="1" dirty="0"/>
              <a:t> </a:t>
            </a:r>
            <a:r>
              <a:rPr lang="en-US" b="1" dirty="0"/>
              <a:t>y</a:t>
            </a:r>
            <a:r>
              <a:rPr lang="en-US" b="1" baseline="-25000" dirty="0"/>
              <a:t>8</a:t>
            </a:r>
            <a:r>
              <a:rPr lang="en-US" b="1" dirty="0"/>
              <a:t>:  </a:t>
            </a:r>
            <a:r>
              <a:rPr lang="ru-RU" b="1" dirty="0"/>
              <a:t>ПортД:=Р1</a:t>
            </a:r>
          </a:p>
          <a:p>
            <a:pPr marL="342900" indent="-342900">
              <a:spcBef>
                <a:spcPct val="50000"/>
              </a:spcBef>
            </a:pPr>
            <a:r>
              <a:rPr lang="ru-RU" b="1" dirty="0">
                <a:solidFill>
                  <a:srgbClr val="FF0000"/>
                </a:solidFill>
              </a:rPr>
              <a:t>12) </a:t>
            </a:r>
            <a:r>
              <a:rPr lang="en-US" b="1" dirty="0">
                <a:solidFill>
                  <a:srgbClr val="FF0000"/>
                </a:solidFill>
              </a:rPr>
              <a:t>y</a:t>
            </a:r>
            <a:r>
              <a:rPr lang="en-US" b="1" baseline="-25000" dirty="0">
                <a:solidFill>
                  <a:srgbClr val="FF0000"/>
                </a:solidFill>
              </a:rPr>
              <a:t>4</a:t>
            </a:r>
            <a:r>
              <a:rPr lang="en-US" b="1" dirty="0">
                <a:solidFill>
                  <a:srgbClr val="FF0000"/>
                </a:solidFill>
              </a:rPr>
              <a:t>:  </a:t>
            </a:r>
            <a:r>
              <a:rPr lang="ru-RU" b="1" dirty="0" err="1">
                <a:solidFill>
                  <a:srgbClr val="FF0000"/>
                </a:solidFill>
              </a:rPr>
              <a:t>ПортА</a:t>
            </a:r>
            <a:r>
              <a:rPr lang="ru-RU" b="1" dirty="0">
                <a:solidFill>
                  <a:srgbClr val="FF0000"/>
                </a:solidFill>
              </a:rPr>
              <a:t>:=А</a:t>
            </a:r>
            <a:r>
              <a:rPr lang="ru-RU" b="1" baseline="-25000" dirty="0">
                <a:solidFill>
                  <a:srgbClr val="FF0000"/>
                </a:solidFill>
              </a:rPr>
              <a:t>1</a:t>
            </a:r>
          </a:p>
          <a:p>
            <a:pPr marL="342900" indent="-342900">
              <a:spcBef>
                <a:spcPct val="50000"/>
              </a:spcBef>
            </a:pPr>
            <a:endParaRPr lang="ru-RU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4"/>
          <p:cNvGraphicFramePr>
            <a:graphicFrameLocks noChangeAspect="1"/>
          </p:cNvGraphicFramePr>
          <p:nvPr/>
        </p:nvGraphicFramePr>
        <p:xfrm>
          <a:off x="1276350" y="0"/>
          <a:ext cx="659288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0"/>
                        <a:ext cx="6592888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Text Box 5"/>
          <p:cNvSpPr txBox="1">
            <a:spLocks noChangeArrowheads="1"/>
          </p:cNvSpPr>
          <p:nvPr/>
        </p:nvSpPr>
        <p:spPr bwMode="auto">
          <a:xfrm>
            <a:off x="6227763" y="5157788"/>
            <a:ext cx="2916237" cy="1328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ru-RU" b="1" dirty="0"/>
              <a:t>11) </a:t>
            </a:r>
            <a:r>
              <a:rPr lang="en-US" b="1" dirty="0"/>
              <a:t>y</a:t>
            </a:r>
            <a:r>
              <a:rPr lang="en-US" b="1" baseline="-25000" dirty="0"/>
              <a:t>8</a:t>
            </a:r>
            <a:r>
              <a:rPr lang="en-US" b="1" dirty="0"/>
              <a:t>:  </a:t>
            </a:r>
            <a:r>
              <a:rPr lang="ru-RU" b="1" dirty="0"/>
              <a:t>ПортД:=Р1</a:t>
            </a:r>
          </a:p>
          <a:p>
            <a:pPr marL="342900" indent="-342900"/>
            <a:r>
              <a:rPr lang="ru-RU" b="1" dirty="0"/>
              <a:t>12) </a:t>
            </a:r>
            <a:r>
              <a:rPr lang="en-US" b="1" dirty="0"/>
              <a:t>y</a:t>
            </a:r>
            <a:r>
              <a:rPr lang="en-US" b="1" baseline="-25000" dirty="0"/>
              <a:t>4</a:t>
            </a:r>
            <a:r>
              <a:rPr lang="en-US" b="1" dirty="0"/>
              <a:t>:  </a:t>
            </a:r>
            <a:r>
              <a:rPr lang="ru-RU" b="1" dirty="0" err="1"/>
              <a:t>ПортА</a:t>
            </a:r>
            <a:r>
              <a:rPr lang="ru-RU" b="1" dirty="0"/>
              <a:t>:=А1</a:t>
            </a:r>
          </a:p>
          <a:p>
            <a:pPr marL="342900" indent="-342900"/>
            <a:r>
              <a:rPr lang="ru-RU" b="1" dirty="0">
                <a:solidFill>
                  <a:srgbClr val="FF0000"/>
                </a:solidFill>
              </a:rPr>
              <a:t>13) </a:t>
            </a:r>
            <a:r>
              <a:rPr lang="en-US" b="1" dirty="0">
                <a:solidFill>
                  <a:srgbClr val="FF0000"/>
                </a:solidFill>
              </a:rPr>
              <a:t>y</a:t>
            </a:r>
            <a:r>
              <a:rPr lang="en-US" b="1" baseline="-25000" dirty="0">
                <a:solidFill>
                  <a:srgbClr val="FF0000"/>
                </a:solidFill>
              </a:rPr>
              <a:t>9</a:t>
            </a:r>
            <a:r>
              <a:rPr lang="en-US" b="1" dirty="0">
                <a:solidFill>
                  <a:srgbClr val="FF0000"/>
                </a:solidFill>
              </a:rPr>
              <a:t>:  </a:t>
            </a:r>
            <a:r>
              <a:rPr lang="ru-RU" b="1" dirty="0" err="1">
                <a:solidFill>
                  <a:srgbClr val="FF0000"/>
                </a:solidFill>
              </a:rPr>
              <a:t>ЗпОП</a:t>
            </a:r>
            <a:endParaRPr lang="ru-RU" b="1" dirty="0">
              <a:solidFill>
                <a:srgbClr val="FF0000"/>
              </a:solidFill>
            </a:endParaRPr>
          </a:p>
          <a:p>
            <a:pPr marL="342900" indent="-342900">
              <a:spcBef>
                <a:spcPct val="50000"/>
              </a:spcBef>
            </a:pPr>
            <a:endParaRPr lang="ru-RU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4"/>
          <p:cNvSpPr txBox="1">
            <a:spLocks noChangeArrowheads="1"/>
          </p:cNvSpPr>
          <p:nvPr/>
        </p:nvSpPr>
        <p:spPr bwMode="auto">
          <a:xfrm>
            <a:off x="250825" y="1557338"/>
            <a:ext cx="8640763" cy="4719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4400" b="1" dirty="0"/>
              <a:t>Рабочий цикл процессора</a:t>
            </a:r>
          </a:p>
          <a:p>
            <a:pPr algn="ctr"/>
            <a:endParaRPr lang="ru-RU" sz="4400" b="1" dirty="0"/>
          </a:p>
          <a:p>
            <a:pPr algn="ctr"/>
            <a:r>
              <a:rPr lang="ru-RU" sz="4400" b="1" dirty="0"/>
              <a:t>5 этап. </a:t>
            </a:r>
          </a:p>
          <a:p>
            <a:pPr algn="ctr"/>
            <a:r>
              <a:rPr lang="ru-RU" sz="4400" b="1" dirty="0"/>
              <a:t>Продвижение </a:t>
            </a:r>
            <a:r>
              <a:rPr lang="ru-RU" sz="4400" b="1" dirty="0" err="1"/>
              <a:t>СчАК</a:t>
            </a:r>
            <a:endParaRPr lang="ru-RU" sz="4400" b="1" dirty="0"/>
          </a:p>
          <a:p>
            <a:pPr algn="ctr"/>
            <a:endParaRPr lang="ru-RU" sz="4400" b="1" dirty="0"/>
          </a:p>
          <a:p>
            <a:pPr algn="ctr"/>
            <a:r>
              <a:rPr lang="ru-RU" sz="2400" b="1" dirty="0"/>
              <a:t>(этот этап можно было выполнить сразу после этапа выборки команды)</a:t>
            </a:r>
          </a:p>
          <a:p>
            <a:pPr algn="ctr">
              <a:spcBef>
                <a:spcPct val="50000"/>
              </a:spcBef>
            </a:pPr>
            <a:endParaRPr lang="ru-RU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5"/>
          <p:cNvGraphicFramePr>
            <a:graphicFrameLocks noChangeAspect="1"/>
          </p:cNvGraphicFramePr>
          <p:nvPr/>
        </p:nvGraphicFramePr>
        <p:xfrm>
          <a:off x="1258888" y="0"/>
          <a:ext cx="6592887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Visio" r:id="rId3" imgW="7307839" imgH="7554901" progId="Visio.Drawing.11">
                  <p:embed/>
                </p:oleObj>
              </mc:Choice>
              <mc:Fallback>
                <p:oleObj name="Visio" r:id="rId3" imgW="7307839" imgH="7554901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0"/>
                        <a:ext cx="6592887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Text Box 6"/>
          <p:cNvSpPr txBox="1">
            <a:spLocks noChangeArrowheads="1"/>
          </p:cNvSpPr>
          <p:nvPr/>
        </p:nvSpPr>
        <p:spPr bwMode="auto">
          <a:xfrm>
            <a:off x="6227763" y="5013325"/>
            <a:ext cx="29162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 dirty="0">
                <a:solidFill>
                  <a:srgbClr val="FF0000"/>
                </a:solidFill>
              </a:rPr>
              <a:t>14) </a:t>
            </a:r>
            <a:r>
              <a:rPr lang="en-US" b="1" dirty="0">
                <a:solidFill>
                  <a:srgbClr val="FF0000"/>
                </a:solidFill>
              </a:rPr>
              <a:t> y</a:t>
            </a:r>
            <a:r>
              <a:rPr lang="en-US" b="1" baseline="-25000" dirty="0">
                <a:solidFill>
                  <a:srgbClr val="FF0000"/>
                </a:solidFill>
              </a:rPr>
              <a:t>10</a:t>
            </a:r>
            <a:r>
              <a:rPr lang="en-US" b="1" dirty="0">
                <a:solidFill>
                  <a:srgbClr val="FF0000"/>
                </a:solidFill>
              </a:rPr>
              <a:t>:  </a:t>
            </a:r>
            <a:r>
              <a:rPr lang="ru-RU" b="1" dirty="0" err="1">
                <a:solidFill>
                  <a:srgbClr val="FF0000"/>
                </a:solidFill>
              </a:rPr>
              <a:t>СчАК</a:t>
            </a:r>
            <a:r>
              <a:rPr lang="ru-RU" b="1" dirty="0">
                <a:solidFill>
                  <a:srgbClr val="FF0000"/>
                </a:solidFill>
              </a:rPr>
              <a:t>:=</a:t>
            </a:r>
            <a:r>
              <a:rPr lang="ru-RU" b="1" dirty="0" err="1">
                <a:solidFill>
                  <a:srgbClr val="FF0000"/>
                </a:solidFill>
              </a:rPr>
              <a:t>СчАК</a:t>
            </a:r>
            <a:r>
              <a:rPr lang="ru-RU" b="1" dirty="0">
                <a:solidFill>
                  <a:srgbClr val="FF0000"/>
                </a:solidFill>
              </a:rPr>
              <a:t>+</a:t>
            </a:r>
            <a:r>
              <a:rPr lang="en-US" sz="2000" b="1" i="1" dirty="0">
                <a:solidFill>
                  <a:srgbClr val="FF0000"/>
                </a:solidFill>
                <a:latin typeface="Times New Roman" pitchFamily="18" charset="0"/>
              </a:rPr>
              <a:t>L</a:t>
            </a:r>
            <a:endParaRPr lang="ru-RU" sz="2000" b="1" i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19460" name="Text Box 7"/>
          <p:cNvSpPr txBox="1">
            <a:spLocks noChangeArrowheads="1"/>
          </p:cNvSpPr>
          <p:nvPr/>
        </p:nvSpPr>
        <p:spPr bwMode="auto">
          <a:xfrm>
            <a:off x="6011863" y="5332413"/>
            <a:ext cx="3132137" cy="152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/>
              <a:t>C</a:t>
            </a:r>
            <a:r>
              <a:rPr lang="ru-RU" b="1" dirty="0" err="1"/>
              <a:t>чАК</a:t>
            </a:r>
            <a:r>
              <a:rPr lang="ru-RU" b="1" dirty="0"/>
              <a:t> увеличивается на </a:t>
            </a:r>
            <a:r>
              <a:rPr lang="en-US" sz="2000" b="1" i="1" dirty="0">
                <a:latin typeface="Times New Roman" pitchFamily="18" charset="0"/>
              </a:rPr>
              <a:t>L</a:t>
            </a:r>
            <a:r>
              <a:rPr lang="ru-RU" b="1" i="1" dirty="0"/>
              <a:t> </a:t>
            </a:r>
            <a:r>
              <a:rPr lang="ru-RU" b="1" dirty="0"/>
              <a:t>для выборки следующей команды.</a:t>
            </a:r>
          </a:p>
          <a:p>
            <a:r>
              <a:rPr lang="ru-RU" sz="2000" b="1" i="1" dirty="0">
                <a:latin typeface="Times New Roman" pitchFamily="18" charset="0"/>
              </a:rPr>
              <a:t> </a:t>
            </a:r>
            <a:r>
              <a:rPr lang="en-US" sz="2000" b="1" i="1" dirty="0">
                <a:latin typeface="Times New Roman" pitchFamily="18" charset="0"/>
              </a:rPr>
              <a:t>L</a:t>
            </a:r>
            <a:r>
              <a:rPr lang="en-US" b="1" dirty="0"/>
              <a:t> – </a:t>
            </a:r>
            <a:r>
              <a:rPr lang="ru-RU" b="1" dirty="0"/>
              <a:t>длина выполненной команды в байтах.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4"/>
          <p:cNvGraphicFramePr>
            <a:graphicFrameLocks noChangeAspect="1"/>
          </p:cNvGraphicFramePr>
          <p:nvPr/>
        </p:nvGraphicFramePr>
        <p:xfrm>
          <a:off x="539750" y="0"/>
          <a:ext cx="6492875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Visio" r:id="rId3" imgW="7268158" imgH="7675561" progId="Visio.Drawing.11">
                  <p:embed/>
                </p:oleObj>
              </mc:Choice>
              <mc:Fallback>
                <p:oleObj name="Visio" r:id="rId3" imgW="7268158" imgH="767556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0"/>
                        <a:ext cx="6492875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" name="Text Box 5"/>
          <p:cNvSpPr txBox="1">
            <a:spLocks noChangeArrowheads="1"/>
          </p:cNvSpPr>
          <p:nvPr/>
        </p:nvSpPr>
        <p:spPr bwMode="auto">
          <a:xfrm>
            <a:off x="6300788" y="3357563"/>
            <a:ext cx="2843212" cy="2014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dirty="0">
                <a:solidFill>
                  <a:srgbClr val="FF0000"/>
                </a:solidFill>
              </a:rPr>
              <a:t>В процессоре должны быть выводы, на которые извне подаются сигналы, позволяющие включить </a:t>
            </a:r>
            <a:r>
              <a:rPr lang="en-US" dirty="0">
                <a:solidFill>
                  <a:srgbClr val="FF0000"/>
                </a:solidFill>
              </a:rPr>
              <a:t>(Set) </a:t>
            </a:r>
            <a:r>
              <a:rPr lang="ru-RU" dirty="0">
                <a:solidFill>
                  <a:srgbClr val="FF0000"/>
                </a:solidFill>
              </a:rPr>
              <a:t> и выключить (</a:t>
            </a:r>
            <a:r>
              <a:rPr lang="en-US" dirty="0">
                <a:solidFill>
                  <a:srgbClr val="FF0000"/>
                </a:solidFill>
              </a:rPr>
              <a:t>Reset)</a:t>
            </a:r>
            <a:r>
              <a:rPr lang="ru-RU" dirty="0">
                <a:solidFill>
                  <a:srgbClr val="FF0000"/>
                </a:solidFill>
              </a:rPr>
              <a:t> его УУиС. </a:t>
            </a:r>
          </a:p>
        </p:txBody>
      </p:sp>
      <p:sp>
        <p:nvSpPr>
          <p:cNvPr id="20484" name="Text Box 6"/>
          <p:cNvSpPr txBox="1">
            <a:spLocks noChangeArrowheads="1"/>
          </p:cNvSpPr>
          <p:nvPr/>
        </p:nvSpPr>
        <p:spPr bwMode="auto">
          <a:xfrm>
            <a:off x="6516688" y="260350"/>
            <a:ext cx="2627312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 u="sng" dirty="0"/>
              <a:t>Упрощенная структурная схема процессора и ОП</a:t>
            </a:r>
          </a:p>
        </p:txBody>
      </p:sp>
      <p:sp>
        <p:nvSpPr>
          <p:cNvPr id="20485" name="Text Box 7"/>
          <p:cNvSpPr txBox="1">
            <a:spLocks noChangeArrowheads="1"/>
          </p:cNvSpPr>
          <p:nvPr/>
        </p:nvSpPr>
        <p:spPr bwMode="auto">
          <a:xfrm>
            <a:off x="5435600" y="5392738"/>
            <a:ext cx="3708400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dirty="0">
                <a:solidFill>
                  <a:srgbClr val="FF0000"/>
                </a:solidFill>
              </a:rPr>
              <a:t>По включению УУиС должно выработать управляющий сигнал </a:t>
            </a:r>
            <a:r>
              <a:rPr lang="en-US" dirty="0">
                <a:solidFill>
                  <a:srgbClr val="FF0000"/>
                </a:solidFill>
              </a:rPr>
              <a:t>y0</a:t>
            </a:r>
            <a:r>
              <a:rPr lang="ru-RU" dirty="0">
                <a:solidFill>
                  <a:srgbClr val="FF0000"/>
                </a:solidFill>
              </a:rPr>
              <a:t>, устанавливающий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ru-RU" dirty="0" err="1">
                <a:solidFill>
                  <a:srgbClr val="FF0000"/>
                </a:solidFill>
              </a:rPr>
              <a:t>чАК</a:t>
            </a:r>
            <a:r>
              <a:rPr lang="ru-RU" dirty="0">
                <a:solidFill>
                  <a:srgbClr val="FF0000"/>
                </a:solidFill>
              </a:rPr>
              <a:t> на начальный адрес программы.</a:t>
            </a:r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4"/>
          <p:cNvSpPr txBox="1">
            <a:spLocks noChangeArrowheads="1"/>
          </p:cNvSpPr>
          <p:nvPr/>
        </p:nvSpPr>
        <p:spPr bwMode="auto">
          <a:xfrm>
            <a:off x="827088" y="260350"/>
            <a:ext cx="72009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400" b="1" dirty="0"/>
              <a:t>Обобщенное условно-графическое обозначение (УГО) процессора</a:t>
            </a:r>
          </a:p>
        </p:txBody>
      </p:sp>
      <p:graphicFrame>
        <p:nvGraphicFramePr>
          <p:cNvPr id="21506" name="Object 6"/>
          <p:cNvGraphicFramePr>
            <a:graphicFrameLocks noChangeAspect="1"/>
          </p:cNvGraphicFramePr>
          <p:nvPr/>
        </p:nvGraphicFramePr>
        <p:xfrm>
          <a:off x="1763713" y="1268413"/>
          <a:ext cx="4864100" cy="51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0" name="Visio" r:id="rId3" imgW="2849496" imgH="2939037" progId="Visio.Drawing.11">
                  <p:embed/>
                </p:oleObj>
              </mc:Choice>
              <mc:Fallback>
                <p:oleObj name="Visio" r:id="rId3" imgW="2849496" imgH="2939037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268413"/>
                        <a:ext cx="4864100" cy="518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Text Box 7"/>
          <p:cNvSpPr txBox="1">
            <a:spLocks noChangeArrowheads="1"/>
          </p:cNvSpPr>
          <p:nvPr/>
        </p:nvSpPr>
        <p:spPr bwMode="auto">
          <a:xfrm>
            <a:off x="0" y="4292600"/>
            <a:ext cx="27003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i="1">
                <a:solidFill>
                  <a:srgbClr val="FF0000"/>
                </a:solidFill>
              </a:rPr>
              <a:t>Можно подключить к внешнему генератору</a:t>
            </a:r>
          </a:p>
        </p:txBody>
      </p:sp>
      <p:sp>
        <p:nvSpPr>
          <p:cNvPr id="21509" name="Text Box 8"/>
          <p:cNvSpPr txBox="1">
            <a:spLocks noChangeArrowheads="1"/>
          </p:cNvSpPr>
          <p:nvPr/>
        </p:nvSpPr>
        <p:spPr bwMode="auto">
          <a:xfrm>
            <a:off x="6588125" y="1484313"/>
            <a:ext cx="21605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i="1">
                <a:solidFill>
                  <a:srgbClr val="FF0000"/>
                </a:solidFill>
              </a:rPr>
              <a:t>Выводы порта адреса</a:t>
            </a:r>
          </a:p>
        </p:txBody>
      </p:sp>
      <p:sp>
        <p:nvSpPr>
          <p:cNvPr id="21510" name="Text Box 9"/>
          <p:cNvSpPr txBox="1">
            <a:spLocks noChangeArrowheads="1"/>
          </p:cNvSpPr>
          <p:nvPr/>
        </p:nvSpPr>
        <p:spPr bwMode="auto">
          <a:xfrm>
            <a:off x="6516688" y="2565400"/>
            <a:ext cx="21605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i="1">
                <a:solidFill>
                  <a:srgbClr val="FF0000"/>
                </a:solidFill>
              </a:rPr>
              <a:t>Выводы порта данных</a:t>
            </a:r>
          </a:p>
        </p:txBody>
      </p:sp>
      <p:sp>
        <p:nvSpPr>
          <p:cNvPr id="21511" name="Text Box 10"/>
          <p:cNvSpPr txBox="1">
            <a:spLocks noChangeArrowheads="1"/>
          </p:cNvSpPr>
          <p:nvPr/>
        </p:nvSpPr>
        <p:spPr bwMode="auto">
          <a:xfrm>
            <a:off x="6588125" y="4149725"/>
            <a:ext cx="20875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i="1">
                <a:solidFill>
                  <a:srgbClr val="FF0000"/>
                </a:solidFill>
              </a:rPr>
              <a:t>Чтение и Запись для ОП</a:t>
            </a:r>
          </a:p>
        </p:txBody>
      </p:sp>
      <p:sp>
        <p:nvSpPr>
          <p:cNvPr id="21512" name="Text Box 11"/>
          <p:cNvSpPr txBox="1">
            <a:spLocks noChangeArrowheads="1"/>
          </p:cNvSpPr>
          <p:nvPr/>
        </p:nvSpPr>
        <p:spPr bwMode="auto">
          <a:xfrm>
            <a:off x="6443663" y="5300663"/>
            <a:ext cx="2484437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i="1">
                <a:solidFill>
                  <a:srgbClr val="FF0000"/>
                </a:solidFill>
              </a:rPr>
              <a:t>Чтение и Запись для периферийных устройств</a:t>
            </a:r>
            <a:endParaRPr lang="ru-R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4"/>
          <p:cNvGraphicFramePr>
            <a:graphicFrameLocks noChangeAspect="1"/>
          </p:cNvGraphicFramePr>
          <p:nvPr/>
        </p:nvGraphicFramePr>
        <p:xfrm>
          <a:off x="496888" y="1779588"/>
          <a:ext cx="8150225" cy="329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" name="Формула" r:id="rId3" imgW="2539800" imgH="1028520" progId="Equation.3">
                  <p:embed/>
                </p:oleObj>
              </mc:Choice>
              <mc:Fallback>
                <p:oleObj name="Формула" r:id="rId3" imgW="2539800" imgH="10285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8" y="1779588"/>
                        <a:ext cx="8150225" cy="3298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TextBox 3"/>
          <p:cNvSpPr txBox="1">
            <a:spLocks noChangeArrowheads="1"/>
          </p:cNvSpPr>
          <p:nvPr/>
        </p:nvSpPr>
        <p:spPr bwMode="auto">
          <a:xfrm>
            <a:off x="611188" y="0"/>
            <a:ext cx="81375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dirty="0"/>
              <a:t>УУиС после включения реализует микропрограмму работы процессора, состоящую в повторении этапов его рабочего цикла:</a:t>
            </a:r>
          </a:p>
        </p:txBody>
      </p:sp>
      <p:sp>
        <p:nvSpPr>
          <p:cNvPr id="22532" name="TextBox 4"/>
          <p:cNvSpPr txBox="1">
            <a:spLocks noChangeArrowheads="1"/>
          </p:cNvSpPr>
          <p:nvPr/>
        </p:nvSpPr>
        <p:spPr bwMode="auto">
          <a:xfrm>
            <a:off x="5940425" y="4581525"/>
            <a:ext cx="2952750" cy="175418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solidFill>
                  <a:srgbClr val="FF0000"/>
                </a:solidFill>
              </a:rPr>
              <a:t>Микропрограмма обработки прерываний, если они возникли в процессе выполнения текущей команды (рассмотрим позже).</a:t>
            </a:r>
          </a:p>
        </p:txBody>
      </p:sp>
      <p:cxnSp>
        <p:nvCxnSpPr>
          <p:cNvPr id="7" name="Прямая со стрелкой 6"/>
          <p:cNvCxnSpPr>
            <a:stCxn id="22532" idx="0"/>
          </p:cNvCxnSpPr>
          <p:nvPr/>
        </p:nvCxnSpPr>
        <p:spPr>
          <a:xfrm flipV="1">
            <a:off x="7416800" y="3716338"/>
            <a:ext cx="755650" cy="86518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4" name="TextBox 7"/>
          <p:cNvSpPr txBox="1">
            <a:spLocks noChangeArrowheads="1"/>
          </p:cNvSpPr>
          <p:nvPr/>
        </p:nvSpPr>
        <p:spPr bwMode="auto">
          <a:xfrm>
            <a:off x="323850" y="1196975"/>
            <a:ext cx="2592388" cy="64611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Исполнение предыдущих команд</a:t>
            </a:r>
          </a:p>
        </p:txBody>
      </p:sp>
      <p:cxnSp>
        <p:nvCxnSpPr>
          <p:cNvPr id="11" name="Прямая со стрелкой 10"/>
          <p:cNvCxnSpPr>
            <a:stCxn id="22534" idx="2"/>
          </p:cNvCxnSpPr>
          <p:nvPr/>
        </p:nvCxnSpPr>
        <p:spPr>
          <a:xfrm>
            <a:off x="1619250" y="1843088"/>
            <a:ext cx="0" cy="43338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6" name="TextBox 11"/>
          <p:cNvSpPr txBox="1">
            <a:spLocks noChangeArrowheads="1"/>
          </p:cNvSpPr>
          <p:nvPr/>
        </p:nvSpPr>
        <p:spPr bwMode="auto">
          <a:xfrm>
            <a:off x="395288" y="5805488"/>
            <a:ext cx="3097212" cy="64611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solidFill>
                  <a:srgbClr val="FF0000"/>
                </a:solidFill>
              </a:rPr>
              <a:t>Исполнение следующих команд</a:t>
            </a:r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468313" y="5157788"/>
            <a:ext cx="33829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22536" idx="0"/>
          </p:cNvCxnSpPr>
          <p:nvPr/>
        </p:nvCxnSpPr>
        <p:spPr>
          <a:xfrm flipV="1">
            <a:off x="1943100" y="5157788"/>
            <a:ext cx="36513" cy="6477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Box 1"/>
          <p:cNvSpPr txBox="1">
            <a:spLocks noChangeArrowheads="1"/>
          </p:cNvSpPr>
          <p:nvPr/>
        </p:nvSpPr>
        <p:spPr bwMode="auto">
          <a:xfrm>
            <a:off x="323850" y="0"/>
            <a:ext cx="8496300" cy="668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b="1" u="sng"/>
              <a:t>Пример.</a:t>
            </a:r>
            <a:endParaRPr lang="en-US" b="1" u="sng"/>
          </a:p>
          <a:p>
            <a:pPr algn="ctr"/>
            <a:endParaRPr lang="en-US" b="1" u="sng"/>
          </a:p>
          <a:p>
            <a:r>
              <a:rPr lang="ru-RU" b="1"/>
              <a:t>Проиллюстрируем последовательность изменения содержимого регистров процессора при выполнении арифметической команды (сложение чисел с фиксированной точкой). </a:t>
            </a:r>
          </a:p>
          <a:p>
            <a:pPr algn="ctr"/>
            <a:r>
              <a:rPr lang="ru-RU" b="1" u="sng"/>
              <a:t>Дано:</a:t>
            </a:r>
          </a:p>
          <a:p>
            <a:pPr>
              <a:buFontTx/>
              <a:buAutoNum type="arabicParenR"/>
            </a:pPr>
            <a:r>
              <a:rPr lang="ru-RU" b="1"/>
              <a:t>Система команд процессора включает в себя 256 команд (следовательно поле КОП должно содержать 8 бит). </a:t>
            </a:r>
          </a:p>
          <a:p>
            <a:pPr>
              <a:buFontTx/>
              <a:buAutoNum type="arabicParenR"/>
            </a:pPr>
            <a:r>
              <a:rPr lang="ru-RU" b="1"/>
              <a:t>В арифметической операции участвуют два операнда, находящиеся в ОП (в команде должно быть два поля для представления адресов операндов). Если длина операнда превышает 1 байт, то адресом операнда считается адрес его первого байта. Поле КОП однозначно определяет  выполняемую операцию, а также тип (длину)  операндов.</a:t>
            </a:r>
          </a:p>
          <a:p>
            <a:pPr>
              <a:buFontTx/>
              <a:buAutoNum type="arabicParenR"/>
            </a:pPr>
            <a:r>
              <a:rPr lang="ru-RU" b="1"/>
              <a:t>ОП организована как последовательность байтов, каждый байт имеет адрес (номер).</a:t>
            </a:r>
          </a:p>
          <a:p>
            <a:pPr>
              <a:buFontTx/>
              <a:buAutoNum type="arabicParenR"/>
            </a:pPr>
            <a:r>
              <a:rPr lang="ru-RU" b="1"/>
              <a:t> Ширина шины данных 32 бита (значит, из ОП памяти за одну операцию чтения (записи) может быть считано (записано) минимум 1 байт</a:t>
            </a:r>
            <a:r>
              <a:rPr lang="en-US" b="1"/>
              <a:t>,</a:t>
            </a:r>
            <a:r>
              <a:rPr lang="ru-RU" b="1"/>
              <a:t> максимум 4 байта).</a:t>
            </a:r>
          </a:p>
          <a:p>
            <a:pPr>
              <a:buFontTx/>
              <a:buAutoNum type="arabicParenR"/>
            </a:pPr>
            <a:r>
              <a:rPr lang="ru-RU" b="1"/>
              <a:t>Ширина шины адреса 8 бит (значит объем оперативной памяти не может превышать  2</a:t>
            </a:r>
            <a:r>
              <a:rPr lang="ru-RU" b="1" baseline="30000"/>
              <a:t>8</a:t>
            </a:r>
            <a:r>
              <a:rPr lang="ru-RU" b="1"/>
              <a:t>=256 байтов).</a:t>
            </a:r>
          </a:p>
          <a:p>
            <a:pPr>
              <a:buFontTx/>
              <a:buAutoNum type="arabicParenR"/>
            </a:pPr>
            <a:r>
              <a:rPr lang="ru-RU" b="1"/>
              <a:t>ОП хранит  и данные  и команды (принстонская архитектура ОП, предложенная Фон-Нейманом).</a:t>
            </a:r>
          </a:p>
          <a:p>
            <a:pPr>
              <a:buFontTx/>
              <a:buAutoNum type="arabicParenR"/>
            </a:pPr>
            <a:endParaRPr lang="ru-RU" b="1"/>
          </a:p>
          <a:p>
            <a:r>
              <a:rPr lang="ru-RU" b="1"/>
              <a:t>СчАК часто обозначают СК (счетчик команд) или </a:t>
            </a:r>
            <a:r>
              <a:rPr lang="en-US" b="1"/>
              <a:t>PC (program counter).</a:t>
            </a:r>
            <a:endParaRPr lang="ru-R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4"/>
          <p:cNvGraphicFramePr>
            <a:graphicFrameLocks noChangeAspect="1"/>
          </p:cNvGraphicFramePr>
          <p:nvPr/>
        </p:nvGraphicFramePr>
        <p:xfrm>
          <a:off x="1042988" y="0"/>
          <a:ext cx="7058025" cy="684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" name="Visio" r:id="rId3" imgW="8159233" imgH="7085487" progId="Visio.Drawing.11">
                  <p:embed/>
                </p:oleObj>
              </mc:Choice>
              <mc:Fallback>
                <p:oleObj name="Visio" r:id="rId3" imgW="8159233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0"/>
                        <a:ext cx="7058025" cy="684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Text Box 5"/>
          <p:cNvSpPr txBox="1">
            <a:spLocks noChangeArrowheads="1"/>
          </p:cNvSpPr>
          <p:nvPr/>
        </p:nvSpPr>
        <p:spPr bwMode="auto">
          <a:xfrm>
            <a:off x="0" y="6092825"/>
            <a:ext cx="5219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b="1" dirty="0"/>
              <a:t>1) Процессор выставляет в порт адреса (на шину адреса) значение, находящееся в счетчике команд (СК).</a:t>
            </a:r>
          </a:p>
        </p:txBody>
      </p:sp>
      <p:sp>
        <p:nvSpPr>
          <p:cNvPr id="23556" name="TextBox 3"/>
          <p:cNvSpPr txBox="1">
            <a:spLocks noChangeArrowheads="1"/>
          </p:cNvSpPr>
          <p:nvPr/>
        </p:nvSpPr>
        <p:spPr bwMode="auto">
          <a:xfrm>
            <a:off x="0" y="0"/>
            <a:ext cx="50038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600" b="1" dirty="0"/>
              <a:t>В рассматриваемый момент времени в  СК – адрес текущей команды, в РК – предыдущая команда, в регистрах АЛУ операнд</a:t>
            </a:r>
            <a:r>
              <a:rPr lang="en-US" sz="1600" b="1" dirty="0"/>
              <a:t> </a:t>
            </a:r>
            <a:r>
              <a:rPr lang="ru-RU" sz="1600" b="1" dirty="0"/>
              <a:t>и результат предыдущей команды.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4"/>
          <p:cNvGraphicFramePr>
            <a:graphicFrameLocks noChangeAspect="1"/>
          </p:cNvGraphicFramePr>
          <p:nvPr/>
        </p:nvGraphicFramePr>
        <p:xfrm>
          <a:off x="1042988" y="0"/>
          <a:ext cx="7058025" cy="684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Visio" r:id="rId3" imgW="8159233" imgH="7085487" progId="Visio.Drawing.11">
                  <p:embed/>
                </p:oleObj>
              </mc:Choice>
              <mc:Fallback>
                <p:oleObj name="Visio" r:id="rId3" imgW="8159233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0"/>
                        <a:ext cx="7058025" cy="684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Text Box 5"/>
          <p:cNvSpPr txBox="1">
            <a:spLocks noChangeArrowheads="1"/>
          </p:cNvSpPr>
          <p:nvPr/>
        </p:nvSpPr>
        <p:spPr bwMode="auto">
          <a:xfrm>
            <a:off x="0" y="5903913"/>
            <a:ext cx="54356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b="1" dirty="0"/>
              <a:t>2) На шину данных (в порт данных) из ОП считывается очередная команда (адрес области ОП – на шине адреса). Информация с шины данных попадает в регистр команд (РК)  процессора.</a:t>
            </a:r>
          </a:p>
        </p:txBody>
      </p:sp>
      <p:sp>
        <p:nvSpPr>
          <p:cNvPr id="24580" name="Text Box 6"/>
          <p:cNvSpPr txBox="1">
            <a:spLocks noChangeArrowheads="1"/>
          </p:cNvSpPr>
          <p:nvPr/>
        </p:nvSpPr>
        <p:spPr bwMode="auto">
          <a:xfrm>
            <a:off x="0" y="0"/>
            <a:ext cx="5148263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b="1" dirty="0"/>
              <a:t>Активные уровни управляющих сигналов чтения из ОП или записи в ОП выставляются процессором в нужные моменты времени на шине управления.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4"/>
          <p:cNvGraphicFramePr>
            <a:graphicFrameLocks noChangeAspect="1"/>
          </p:cNvGraphicFramePr>
          <p:nvPr/>
        </p:nvGraphicFramePr>
        <p:xfrm>
          <a:off x="1042988" y="0"/>
          <a:ext cx="7058025" cy="684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Visio" r:id="rId3" imgW="8159233" imgH="7085487" progId="Visio.Drawing.11">
                  <p:embed/>
                </p:oleObj>
              </mc:Choice>
              <mc:Fallback>
                <p:oleObj name="Visio" r:id="rId3" imgW="8159233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0"/>
                        <a:ext cx="7058025" cy="684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Text Box 5"/>
          <p:cNvSpPr txBox="1">
            <a:spLocks noChangeArrowheads="1"/>
          </p:cNvSpPr>
          <p:nvPr/>
        </p:nvSpPr>
        <p:spPr bwMode="auto">
          <a:xfrm>
            <a:off x="0" y="6092825"/>
            <a:ext cx="53641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3) В порт адреса (на шину адреса) из РК выставляется адрес первого операнда.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4"/>
          <p:cNvGraphicFramePr>
            <a:graphicFrameLocks noChangeAspect="1"/>
          </p:cNvGraphicFramePr>
          <p:nvPr/>
        </p:nvGraphicFramePr>
        <p:xfrm>
          <a:off x="1042988" y="0"/>
          <a:ext cx="7058025" cy="684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Visio" r:id="rId3" imgW="8159233" imgH="7085487" progId="Visio.Drawing.11">
                  <p:embed/>
                </p:oleObj>
              </mc:Choice>
              <mc:Fallback>
                <p:oleObj name="Visio" r:id="rId3" imgW="8159233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0"/>
                        <a:ext cx="7058025" cy="684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Text Box 5"/>
          <p:cNvSpPr txBox="1">
            <a:spLocks noChangeArrowheads="1"/>
          </p:cNvSpPr>
          <p:nvPr/>
        </p:nvSpPr>
        <p:spPr bwMode="auto">
          <a:xfrm>
            <a:off x="0" y="5903913"/>
            <a:ext cx="5364163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b="1"/>
              <a:t>4) На шину данных (в порт данных) из ОП считывается первый операнд (адрес области ОП – на шине адреса). Информация с шины данных попадает в первый регистр АЛУ (аккумулятор).</a:t>
            </a:r>
          </a:p>
        </p:txBody>
      </p:sp>
      <p:sp>
        <p:nvSpPr>
          <p:cNvPr id="26628" name="TextBox 3"/>
          <p:cNvSpPr txBox="1">
            <a:spLocks noChangeArrowheads="1"/>
          </p:cNvSpPr>
          <p:nvPr/>
        </p:nvSpPr>
        <p:spPr bwMode="auto">
          <a:xfrm>
            <a:off x="7885113" y="1557338"/>
            <a:ext cx="1258887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600" i="1">
                <a:solidFill>
                  <a:schemeClr val="accent2"/>
                </a:solidFill>
              </a:rPr>
              <a:t>Допустим, значение поля КОП подразу-мевает целочис-ленные операнды длиной 2 байта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4"/>
          <p:cNvGraphicFramePr>
            <a:graphicFrameLocks noChangeAspect="1"/>
          </p:cNvGraphicFramePr>
          <p:nvPr/>
        </p:nvGraphicFramePr>
        <p:xfrm>
          <a:off x="1042988" y="0"/>
          <a:ext cx="7058025" cy="684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Visio" r:id="rId3" imgW="8159233" imgH="7085487" progId="Visio.Drawing.11">
                  <p:embed/>
                </p:oleObj>
              </mc:Choice>
              <mc:Fallback>
                <p:oleObj name="Visio" r:id="rId3" imgW="8159233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0"/>
                        <a:ext cx="7058025" cy="684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Text Box 5"/>
          <p:cNvSpPr txBox="1">
            <a:spLocks noChangeArrowheads="1"/>
          </p:cNvSpPr>
          <p:nvPr/>
        </p:nvSpPr>
        <p:spPr bwMode="auto">
          <a:xfrm>
            <a:off x="0" y="6216650"/>
            <a:ext cx="52927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5) В порт адреса  (на шину адреса) из РК выставляется адрес второго операнда.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4"/>
          <p:cNvGraphicFramePr>
            <a:graphicFrameLocks noChangeAspect="1"/>
          </p:cNvGraphicFramePr>
          <p:nvPr/>
        </p:nvGraphicFramePr>
        <p:xfrm>
          <a:off x="1042988" y="0"/>
          <a:ext cx="7058025" cy="684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Visio" r:id="rId3" imgW="8159233" imgH="7085487" progId="Visio.Drawing.11">
                  <p:embed/>
                </p:oleObj>
              </mc:Choice>
              <mc:Fallback>
                <p:oleObj name="Visio" r:id="rId3" imgW="8159233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0"/>
                        <a:ext cx="7058025" cy="684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5" name="Text Box 5"/>
          <p:cNvSpPr txBox="1">
            <a:spLocks noChangeArrowheads="1"/>
          </p:cNvSpPr>
          <p:nvPr/>
        </p:nvSpPr>
        <p:spPr bwMode="auto">
          <a:xfrm>
            <a:off x="0" y="5903913"/>
            <a:ext cx="5292725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b="1"/>
              <a:t>6) На шину данных (в порт данных) из ОП считывается второй операнд (адрес области ОП – на шине адреса). Информация с шины данных попадает во второй регистр АЛУ.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5"/>
          <p:cNvGraphicFramePr>
            <a:graphicFrameLocks noChangeAspect="1"/>
          </p:cNvGraphicFramePr>
          <p:nvPr/>
        </p:nvGraphicFramePr>
        <p:xfrm>
          <a:off x="1116013" y="0"/>
          <a:ext cx="6911975" cy="680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Visio" r:id="rId3" imgW="8003477" imgH="7085487" progId="Visio.Drawing.11">
                  <p:embed/>
                </p:oleObj>
              </mc:Choice>
              <mc:Fallback>
                <p:oleObj name="Visio" r:id="rId3" imgW="8003477" imgH="7085487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0"/>
                        <a:ext cx="6911975" cy="680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" name="Text Box 6"/>
          <p:cNvSpPr txBox="1">
            <a:spLocks noChangeArrowheads="1"/>
          </p:cNvSpPr>
          <p:nvPr/>
        </p:nvSpPr>
        <p:spPr bwMode="auto">
          <a:xfrm>
            <a:off x="0" y="5780088"/>
            <a:ext cx="5651500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b="1"/>
              <a:t>7) В АЛУ выполняется операция, соответствующая значению в поле КОП  РК (здесь – сложение с фиксированной точкой). В аккумуляторе (выделен желтым цветом) появляется результат.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4"/>
          <p:cNvGraphicFramePr>
            <a:graphicFrameLocks noChangeAspect="1"/>
          </p:cNvGraphicFramePr>
          <p:nvPr/>
        </p:nvGraphicFramePr>
        <p:xfrm>
          <a:off x="1116013" y="0"/>
          <a:ext cx="6911975" cy="680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Visio" r:id="rId3" imgW="8003477" imgH="7085487" progId="Visio.Drawing.11">
                  <p:embed/>
                </p:oleObj>
              </mc:Choice>
              <mc:Fallback>
                <p:oleObj name="Visio" r:id="rId3" imgW="8003477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0"/>
                        <a:ext cx="6911975" cy="680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3" name="Text Box 5"/>
          <p:cNvSpPr txBox="1">
            <a:spLocks noChangeArrowheads="1"/>
          </p:cNvSpPr>
          <p:nvPr/>
        </p:nvSpPr>
        <p:spPr bwMode="auto">
          <a:xfrm>
            <a:off x="0" y="6216650"/>
            <a:ext cx="52927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8) В порт адреса (на шину адреса) из РК выставляется адрес первого операнда.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4"/>
          <p:cNvGraphicFramePr>
            <a:graphicFrameLocks noChangeAspect="1"/>
          </p:cNvGraphicFramePr>
          <p:nvPr/>
        </p:nvGraphicFramePr>
        <p:xfrm>
          <a:off x="1116013" y="0"/>
          <a:ext cx="6911975" cy="680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Visio" r:id="rId3" imgW="8003477" imgH="7085487" progId="Visio.Drawing.11">
                  <p:embed/>
                </p:oleObj>
              </mc:Choice>
              <mc:Fallback>
                <p:oleObj name="Visio" r:id="rId3" imgW="8003477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0"/>
                        <a:ext cx="6911975" cy="680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Text Box 5"/>
          <p:cNvSpPr txBox="1">
            <a:spLocks noChangeArrowheads="1"/>
          </p:cNvSpPr>
          <p:nvPr/>
        </p:nvSpPr>
        <p:spPr bwMode="auto">
          <a:xfrm>
            <a:off x="0" y="6021388"/>
            <a:ext cx="54356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b="1"/>
              <a:t>9) Результат из АЛУ по шине данных (через порт данных) записывается в ОП на место первого операнда (адрес области ОП – на шине адреса).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4"/>
          <p:cNvGraphicFramePr>
            <a:graphicFrameLocks noChangeAspect="1"/>
          </p:cNvGraphicFramePr>
          <p:nvPr/>
        </p:nvGraphicFramePr>
        <p:xfrm>
          <a:off x="1116013" y="0"/>
          <a:ext cx="6911975" cy="680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name="Visio" r:id="rId3" imgW="8003477" imgH="7085487" progId="Visio.Drawing.11">
                  <p:embed/>
                </p:oleObj>
              </mc:Choice>
              <mc:Fallback>
                <p:oleObj name="Visio" r:id="rId3" imgW="8003477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0"/>
                        <a:ext cx="6911975" cy="680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1" name="Text Box 5"/>
          <p:cNvSpPr txBox="1">
            <a:spLocks noChangeArrowheads="1"/>
          </p:cNvSpPr>
          <p:nvPr/>
        </p:nvSpPr>
        <p:spPr bwMode="auto">
          <a:xfrm>
            <a:off x="0" y="6027738"/>
            <a:ext cx="57245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b="1"/>
              <a:t>10). Значение СК увеличивается на длину выполненной команды (в примере она равна 3 байтам).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4"/>
          <p:cNvGraphicFramePr>
            <a:graphicFrameLocks noChangeAspect="1"/>
          </p:cNvGraphicFramePr>
          <p:nvPr/>
        </p:nvGraphicFramePr>
        <p:xfrm>
          <a:off x="1116013" y="28575"/>
          <a:ext cx="6911975" cy="680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Visio" r:id="rId3" imgW="8003477" imgH="7085487" progId="Visio.Drawing.11">
                  <p:embed/>
                </p:oleObj>
              </mc:Choice>
              <mc:Fallback>
                <p:oleObj name="Visio" r:id="rId3" imgW="8003477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8575"/>
                        <a:ext cx="6911975" cy="680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5" name="Text Box 5"/>
          <p:cNvSpPr txBox="1">
            <a:spLocks noChangeArrowheads="1"/>
          </p:cNvSpPr>
          <p:nvPr/>
        </p:nvSpPr>
        <p:spPr bwMode="auto">
          <a:xfrm>
            <a:off x="0" y="6165850"/>
            <a:ext cx="52927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11(1). И весь процесс повторяется для следующей команды.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4"/>
          <p:cNvGraphicFramePr>
            <a:graphicFrameLocks noChangeAspect="1"/>
          </p:cNvGraphicFramePr>
          <p:nvPr/>
        </p:nvGraphicFramePr>
        <p:xfrm>
          <a:off x="1116013" y="0"/>
          <a:ext cx="6911975" cy="680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2" name="Visio" r:id="rId3" imgW="8003477" imgH="7085487" progId="Visio.Drawing.11">
                  <p:embed/>
                </p:oleObj>
              </mc:Choice>
              <mc:Fallback>
                <p:oleObj name="Visio" r:id="rId3" imgW="8003477" imgH="708548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0"/>
                        <a:ext cx="6911975" cy="680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19" name="Text Box 5"/>
          <p:cNvSpPr txBox="1">
            <a:spLocks noChangeArrowheads="1"/>
          </p:cNvSpPr>
          <p:nvPr/>
        </p:nvSpPr>
        <p:spPr bwMode="auto">
          <a:xfrm>
            <a:off x="0" y="6216650"/>
            <a:ext cx="54356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b="1"/>
              <a:t>1) Процессор выставляет на шину адреса значение, находящееся в счетчике команд (СК)…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11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ru-RU" b="1">
                <a:solidFill>
                  <a:srgbClr val="FF0000"/>
                </a:solidFill>
              </a:rPr>
              <a:t>Вопросы, которые могут возникнуть:</a:t>
            </a:r>
          </a:p>
          <a:p>
            <a:pPr marL="342900" indent="-342900">
              <a:spcBef>
                <a:spcPct val="50000"/>
              </a:spcBef>
              <a:buFontTx/>
              <a:buAutoNum type="arabicParenR"/>
            </a:pPr>
            <a:r>
              <a:rPr lang="ru-RU" b="1">
                <a:solidFill>
                  <a:srgbClr val="FF0000"/>
                </a:solidFill>
              </a:rPr>
              <a:t>Как процессор узнает, что АЛУ закончило выполнение микропрограммы инициированной арифметической (или логической) операции?</a:t>
            </a:r>
          </a:p>
          <a:p>
            <a:pPr marL="342900" indent="-342900">
              <a:spcBef>
                <a:spcPct val="50000"/>
              </a:spcBef>
              <a:buFontTx/>
              <a:buAutoNum type="arabicParenR"/>
            </a:pPr>
            <a:r>
              <a:rPr lang="ru-RU" b="1">
                <a:solidFill>
                  <a:srgbClr val="FF0000"/>
                </a:solidFill>
              </a:rPr>
              <a:t>Где и как сохраняется признак результата, который изменяют  операции сложения, вычитания, инкрементирования, декрементирования и поразрядные логические операции ?</a:t>
            </a:r>
          </a:p>
          <a:p>
            <a:pPr marL="342900" indent="-342900">
              <a:spcBef>
                <a:spcPct val="50000"/>
              </a:spcBef>
            </a:pPr>
            <a:r>
              <a:rPr lang="ru-RU" b="1"/>
              <a:t>На рассмотренной выше структурной схеме процессора был изображен «облегченный» вариант автономного АЛУ. </a:t>
            </a:r>
          </a:p>
          <a:p>
            <a:pPr marL="342900" indent="-342900">
              <a:spcBef>
                <a:spcPct val="50000"/>
              </a:spcBef>
            </a:pPr>
            <a:r>
              <a:rPr lang="ru-RU" b="1"/>
              <a:t>В лекции, посвященной АЛУ, нами рассматривалась более полная схема</a:t>
            </a:r>
            <a:r>
              <a:rPr lang="en-US" b="1"/>
              <a:t>:</a:t>
            </a:r>
            <a:endParaRPr lang="ru-RU" b="1"/>
          </a:p>
        </p:txBody>
      </p:sp>
      <p:graphicFrame>
        <p:nvGraphicFramePr>
          <p:cNvPr id="35842" name="Object 5"/>
          <p:cNvGraphicFramePr>
            <a:graphicFrameLocks noChangeAspect="1"/>
          </p:cNvGraphicFramePr>
          <p:nvPr/>
        </p:nvGraphicFramePr>
        <p:xfrm>
          <a:off x="250825" y="3062288"/>
          <a:ext cx="8569325" cy="379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6" name="Visio" r:id="rId3" imgW="6019681" imgH="2666944" progId="Visio.Drawing.11">
                  <p:embed/>
                </p:oleObj>
              </mc:Choice>
              <mc:Fallback>
                <p:oleObj name="Visio" r:id="rId3" imgW="6019681" imgH="2666944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062288"/>
                        <a:ext cx="8569325" cy="379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0" y="0"/>
            <a:ext cx="8424863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Детализируем схему АЛУ для рассмотренной микропрограммы работы процессора</a:t>
            </a:r>
            <a:r>
              <a:rPr lang="ru-RU" sz="2400" b="1"/>
              <a:t>:</a:t>
            </a:r>
          </a:p>
        </p:txBody>
      </p:sp>
      <p:graphicFrame>
        <p:nvGraphicFramePr>
          <p:cNvPr id="36866" name="Object 7"/>
          <p:cNvGraphicFramePr>
            <a:graphicFrameLocks noChangeAspect="1"/>
          </p:cNvGraphicFramePr>
          <p:nvPr/>
        </p:nvGraphicFramePr>
        <p:xfrm>
          <a:off x="468313" y="260350"/>
          <a:ext cx="8424862" cy="640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0" name="Visio" r:id="rId3" imgW="7781046" imgH="6087272" progId="Visio.Drawing.11">
                  <p:embed/>
                </p:oleObj>
              </mc:Choice>
              <mc:Fallback>
                <p:oleObj name="Visio" r:id="rId3" imgW="7781046" imgH="6087272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60350"/>
                        <a:ext cx="8424862" cy="640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4"/>
          <p:cNvSpPr txBox="1">
            <a:spLocks noChangeArrowheads="1"/>
          </p:cNvSpPr>
          <p:nvPr/>
        </p:nvSpPr>
        <p:spPr bwMode="auto">
          <a:xfrm>
            <a:off x="323850" y="0"/>
            <a:ext cx="8569325" cy="668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261938"/>
            <a:r>
              <a:rPr lang="ru-RU" b="1"/>
              <a:t>1. </a:t>
            </a:r>
            <a:r>
              <a:rPr lang="ru-RU" b="1">
                <a:solidFill>
                  <a:srgbClr val="FF0000"/>
                </a:solidFill>
              </a:rPr>
              <a:t>Уточним 3 этап рабочего цикла процессора – «Выполнение операции в АЛУ».</a:t>
            </a:r>
            <a:r>
              <a:rPr lang="ru-RU" b="1"/>
              <a:t> После того, как процессор загрузит в регистры АЛУ операнды (2 этап рабочего цикла) и инициирует выполнение нужной микропрограммы в АЛУ (3 этап рабочего цикла), АЛУ устанавливает на своем выходе </a:t>
            </a:r>
            <a:r>
              <a:rPr lang="en-US" b="1"/>
              <a:t>Z</a:t>
            </a:r>
            <a:r>
              <a:rPr lang="ru-RU" b="1" baseline="-25000"/>
              <a:t>АЛУ</a:t>
            </a:r>
            <a:r>
              <a:rPr lang="ru-RU" b="1"/>
              <a:t> (ШАЛУ(8) </a:t>
            </a:r>
            <a:r>
              <a:rPr lang="ru-RU" b="1">
                <a:cs typeface="Arial" charset="0"/>
              </a:rPr>
              <a:t>− сигнал «</a:t>
            </a:r>
            <a:r>
              <a:rPr lang="ru-RU" b="1"/>
              <a:t>занято</a:t>
            </a:r>
            <a:r>
              <a:rPr lang="en-US" b="1"/>
              <a:t>/</a:t>
            </a:r>
            <a:r>
              <a:rPr lang="ru-RU" b="1"/>
              <a:t>свободно») единицу (занято!). Процессор ожидает, пока АЛУ не установит ноль на выходе. Это будет означать, что микропрограмма исполнения операции выполнилась, в Р1 находится результат, и теперь АЛУ готово для исполнения микропрограммы следующей операции (свободно!). </a:t>
            </a:r>
          </a:p>
          <a:p>
            <a:pPr indent="261938"/>
            <a:r>
              <a:rPr lang="ru-RU" b="1"/>
              <a:t>Помимо результата выполнения операции (в Р1) АЛУ формирует на выходной шине (ШАЛУ) унитарный код признака результата (только для операций сложения, вычитания, инкрементирования, декрементирования, и поразрядных логических операций: И, ИЛИ, Исключающее ИЛИ):</a:t>
            </a:r>
          </a:p>
          <a:p>
            <a:pPr indent="261938"/>
            <a:r>
              <a:rPr lang="ru-RU" b="1"/>
              <a:t>ШАЛУ(0)=1, если Р1=0;</a:t>
            </a:r>
          </a:p>
          <a:p>
            <a:pPr indent="261938"/>
            <a:r>
              <a:rPr lang="ru-RU" b="1"/>
              <a:t>ШАЛУ(1)=1, если Р1</a:t>
            </a:r>
            <a:r>
              <a:rPr lang="en-US" b="1"/>
              <a:t>&lt;</a:t>
            </a:r>
            <a:r>
              <a:rPr lang="ru-RU" b="1"/>
              <a:t>0;</a:t>
            </a:r>
            <a:endParaRPr lang="en-US" b="1"/>
          </a:p>
          <a:p>
            <a:pPr indent="261938"/>
            <a:r>
              <a:rPr lang="ru-RU" b="1"/>
              <a:t>ШАЛУ(</a:t>
            </a:r>
            <a:r>
              <a:rPr lang="en-US" b="1"/>
              <a:t>2</a:t>
            </a:r>
            <a:r>
              <a:rPr lang="ru-RU" b="1"/>
              <a:t>)=1, если Р1</a:t>
            </a:r>
            <a:r>
              <a:rPr lang="en-US" b="1"/>
              <a:t>&gt;</a:t>
            </a:r>
            <a:r>
              <a:rPr lang="ru-RU" b="1"/>
              <a:t>0;</a:t>
            </a:r>
            <a:endParaRPr lang="en-US" b="1"/>
          </a:p>
          <a:p>
            <a:pPr indent="261938"/>
            <a:r>
              <a:rPr lang="ru-RU" b="1"/>
              <a:t>ШАЛУ(</a:t>
            </a:r>
            <a:r>
              <a:rPr lang="en-US" b="1"/>
              <a:t>3</a:t>
            </a:r>
            <a:r>
              <a:rPr lang="ru-RU" b="1"/>
              <a:t>)=1, если произошла исключительная ситуация «Переполнение с фиксированной точкой».</a:t>
            </a:r>
          </a:p>
          <a:p>
            <a:pPr indent="261938"/>
            <a:r>
              <a:rPr lang="ru-RU" b="1"/>
              <a:t>Четырехразрядный унитарный код признака результата преобразуется с помощью шифратора (</a:t>
            </a:r>
            <a:r>
              <a:rPr lang="en-US" b="1"/>
              <a:t>Coder) </a:t>
            </a:r>
            <a:r>
              <a:rPr lang="ru-RU" b="1"/>
              <a:t>в двухразрядный позиционный код признака результата</a:t>
            </a:r>
            <a:r>
              <a:rPr lang="en-US" b="1"/>
              <a:t>: (00 – </a:t>
            </a:r>
            <a:r>
              <a:rPr lang="ru-RU" b="1"/>
              <a:t>результат равен нулю, 01 – результат меньше нуля, 10 – результат больше нуля, 11 – переполнение с фиксированной точкой).</a:t>
            </a:r>
            <a:r>
              <a:rPr lang="en-US" b="1"/>
              <a:t> </a:t>
            </a:r>
            <a:endParaRPr lang="ru-RU"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ext Box 4"/>
          <p:cNvSpPr txBox="1">
            <a:spLocks noChangeArrowheads="1"/>
          </p:cNvSpPr>
          <p:nvPr/>
        </p:nvSpPr>
        <p:spPr bwMode="auto">
          <a:xfrm>
            <a:off x="250825" y="260350"/>
            <a:ext cx="8713788" cy="434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 dirty="0"/>
              <a:t>Помимо признака результата АЛУ имеет на ШАЛУ линии, на которых формируются флаги возникших исключительных ситуаций при выполнении операций с плавающей точкой и операций деления</a:t>
            </a:r>
            <a:r>
              <a:rPr lang="en-US" b="1" dirty="0"/>
              <a:t>:</a:t>
            </a:r>
          </a:p>
          <a:p>
            <a:r>
              <a:rPr lang="ru-RU" b="1" dirty="0"/>
              <a:t>ШАЛУ(4)=1  – переполнение порядка;</a:t>
            </a:r>
          </a:p>
          <a:p>
            <a:r>
              <a:rPr lang="ru-RU" b="1" dirty="0"/>
              <a:t>ШАЛУ(5)=1 – исчезновение порядка;</a:t>
            </a:r>
          </a:p>
          <a:p>
            <a:r>
              <a:rPr lang="ru-RU" b="1" dirty="0"/>
              <a:t>ШАЛУ(6)=1 – потеря значимости;</a:t>
            </a:r>
          </a:p>
          <a:p>
            <a:r>
              <a:rPr lang="ru-RU" b="1" dirty="0"/>
              <a:t>ШАЛУ(8)=1 – деление на ноль.</a:t>
            </a:r>
          </a:p>
          <a:p>
            <a:endParaRPr lang="ru-RU" b="1" dirty="0"/>
          </a:p>
          <a:p>
            <a:endParaRPr lang="ru-RU" b="1" dirty="0"/>
          </a:p>
          <a:p>
            <a:r>
              <a:rPr lang="ru-RU" b="1" dirty="0"/>
              <a:t>После того как УУиС процессора получит от АЛУ осведомительный сигнал ШАЛУ(8)=0 (</a:t>
            </a:r>
            <a:r>
              <a:rPr lang="en-US" b="1" dirty="0"/>
              <a:t>Z</a:t>
            </a:r>
            <a:r>
              <a:rPr lang="ru-RU" b="1" baseline="-25000" dirty="0"/>
              <a:t>АЛУ</a:t>
            </a:r>
            <a:r>
              <a:rPr lang="ru-RU" dirty="0"/>
              <a:t> </a:t>
            </a:r>
            <a:r>
              <a:rPr lang="ru-RU" b="1" dirty="0"/>
              <a:t>=0</a:t>
            </a:r>
            <a:r>
              <a:rPr lang="ru-RU" dirty="0"/>
              <a:t>)</a:t>
            </a:r>
            <a:r>
              <a:rPr lang="ru-RU" b="1" dirty="0"/>
              <a:t>, процессор переходит к следующему (четвертому) этапу своего рабочего цикла – «Запись результата в ОП». </a:t>
            </a:r>
          </a:p>
          <a:p>
            <a:endParaRPr lang="ru-RU" b="1" dirty="0"/>
          </a:p>
          <a:p>
            <a:endParaRPr lang="ru-RU" dirty="0"/>
          </a:p>
          <a:p>
            <a:pPr>
              <a:spcBef>
                <a:spcPct val="50000"/>
              </a:spcBef>
            </a:pPr>
            <a:endParaRPr lang="ru-RU" dirty="0"/>
          </a:p>
        </p:txBody>
      </p:sp>
      <p:graphicFrame>
        <p:nvGraphicFramePr>
          <p:cNvPr id="37890" name="Object 5"/>
          <p:cNvGraphicFramePr>
            <a:graphicFrameLocks noChangeAspect="1"/>
          </p:cNvGraphicFramePr>
          <p:nvPr/>
        </p:nvGraphicFramePr>
        <p:xfrm>
          <a:off x="900113" y="3771900"/>
          <a:ext cx="6767512" cy="308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4" name="Visio" r:id="rId3" imgW="4417042" imgH="2059053" progId="Visio.Drawing.11">
                  <p:embed/>
                </p:oleObj>
              </mc:Choice>
              <mc:Fallback>
                <p:oleObj name="Visio" r:id="rId3" imgW="4417042" imgH="2059053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771900"/>
                        <a:ext cx="6767512" cy="308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4"/>
          <p:cNvSpPr txBox="1">
            <a:spLocks noChangeArrowheads="1"/>
          </p:cNvSpPr>
          <p:nvPr/>
        </p:nvSpPr>
        <p:spPr bwMode="auto">
          <a:xfrm>
            <a:off x="250825" y="0"/>
            <a:ext cx="8893175" cy="294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 u="sng" dirty="0"/>
              <a:t>Уточним 4 этап рабочего цикла процессора – «Запись результата в ОП»</a:t>
            </a:r>
          </a:p>
          <a:p>
            <a:endParaRPr lang="ru-RU" b="1" u="sng" dirty="0"/>
          </a:p>
          <a:p>
            <a:r>
              <a:rPr lang="ru-RU" b="1" dirty="0"/>
              <a:t>11.1) </a:t>
            </a:r>
            <a:r>
              <a:rPr lang="en-US" b="1" dirty="0">
                <a:solidFill>
                  <a:schemeClr val="accent2"/>
                </a:solidFill>
              </a:rPr>
              <a:t>y</a:t>
            </a:r>
            <a:r>
              <a:rPr lang="en-US" b="1" baseline="-25000" dirty="0">
                <a:solidFill>
                  <a:schemeClr val="accent2"/>
                </a:solidFill>
              </a:rPr>
              <a:t>8</a:t>
            </a:r>
            <a:r>
              <a:rPr lang="en-US" b="1" dirty="0">
                <a:solidFill>
                  <a:schemeClr val="accent2"/>
                </a:solidFill>
              </a:rPr>
              <a:t>:  </a:t>
            </a:r>
            <a:r>
              <a:rPr lang="ru-RU" b="1" dirty="0">
                <a:solidFill>
                  <a:schemeClr val="accent2"/>
                </a:solidFill>
              </a:rPr>
              <a:t>ПортД:=Р1</a:t>
            </a:r>
          </a:p>
          <a:p>
            <a:r>
              <a:rPr lang="ru-RU" b="1" dirty="0"/>
              <a:t>11.2)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y</a:t>
            </a:r>
            <a:r>
              <a:rPr lang="en-US" b="1" baseline="-25000" dirty="0">
                <a:solidFill>
                  <a:srgbClr val="FF0000"/>
                </a:solidFill>
              </a:rPr>
              <a:t>11</a:t>
            </a:r>
            <a:r>
              <a:rPr lang="en-US" b="1" dirty="0">
                <a:solidFill>
                  <a:srgbClr val="FF0000"/>
                </a:solidFill>
              </a:rPr>
              <a:t>: P</a:t>
            </a:r>
            <a:r>
              <a:rPr lang="ru-RU" b="1" dirty="0">
                <a:solidFill>
                  <a:srgbClr val="FF0000"/>
                </a:solidFill>
              </a:rPr>
              <a:t>ПР(0:1)</a:t>
            </a:r>
            <a:r>
              <a:rPr lang="en-US" b="1" dirty="0">
                <a:solidFill>
                  <a:srgbClr val="FF0000"/>
                </a:solidFill>
              </a:rPr>
              <a:t>:=Coder(</a:t>
            </a:r>
            <a:r>
              <a:rPr lang="ru-RU" b="1" dirty="0">
                <a:solidFill>
                  <a:srgbClr val="FF0000"/>
                </a:solidFill>
              </a:rPr>
              <a:t>ШАЛУ(0:3)) </a:t>
            </a:r>
          </a:p>
          <a:p>
            <a:r>
              <a:rPr lang="ru-RU" sz="1600" b="1" i="1" dirty="0"/>
              <a:t>(только для </a:t>
            </a:r>
            <a:r>
              <a:rPr lang="en-US" sz="1600" b="1" i="1" dirty="0"/>
              <a:t>add</a:t>
            </a:r>
            <a:r>
              <a:rPr lang="ru-RU" sz="1600" b="1" i="1" dirty="0"/>
              <a:t>, </a:t>
            </a:r>
            <a:r>
              <a:rPr lang="en-US" sz="1600" b="1" i="1" dirty="0"/>
              <a:t>sub, </a:t>
            </a:r>
            <a:r>
              <a:rPr lang="en-US" sz="1600" b="1" i="1" dirty="0" err="1"/>
              <a:t>inc</a:t>
            </a:r>
            <a:r>
              <a:rPr lang="ru-RU" sz="1600" b="1" i="1" dirty="0"/>
              <a:t>, </a:t>
            </a:r>
            <a:r>
              <a:rPr lang="en-US" sz="1600" b="1" i="1" dirty="0"/>
              <a:t>dec</a:t>
            </a:r>
            <a:r>
              <a:rPr lang="ru-RU" sz="1600" b="1" i="1" dirty="0"/>
              <a:t>, </a:t>
            </a:r>
            <a:r>
              <a:rPr lang="en-US" sz="1600" b="1" i="1" dirty="0"/>
              <a:t>and</a:t>
            </a:r>
            <a:r>
              <a:rPr lang="ru-RU" sz="1600" b="1" i="1" dirty="0"/>
              <a:t>, </a:t>
            </a:r>
            <a:r>
              <a:rPr lang="en-US" sz="1600" b="1" i="1" dirty="0"/>
              <a:t>or, </a:t>
            </a:r>
            <a:r>
              <a:rPr lang="en-US" sz="1600" b="1" i="1" dirty="0" err="1"/>
              <a:t>xor</a:t>
            </a:r>
            <a:r>
              <a:rPr lang="en-US" sz="1600" b="1" i="1" dirty="0"/>
              <a:t>)</a:t>
            </a:r>
          </a:p>
          <a:p>
            <a:r>
              <a:rPr lang="en-US" b="1" dirty="0"/>
              <a:t>11.3)</a:t>
            </a:r>
            <a:r>
              <a:rPr lang="en-US" b="1" dirty="0">
                <a:solidFill>
                  <a:srgbClr val="FF0000"/>
                </a:solidFill>
              </a:rPr>
              <a:t> y</a:t>
            </a:r>
            <a:r>
              <a:rPr lang="en-US" b="1" baseline="-25000" dirty="0">
                <a:solidFill>
                  <a:srgbClr val="FF0000"/>
                </a:solidFill>
              </a:rPr>
              <a:t>12</a:t>
            </a:r>
            <a:r>
              <a:rPr lang="en-US" b="1" dirty="0">
                <a:solidFill>
                  <a:srgbClr val="FF0000"/>
                </a:solidFill>
              </a:rPr>
              <a:t>: P</a:t>
            </a:r>
            <a:r>
              <a:rPr lang="ru-RU" b="1" dirty="0">
                <a:solidFill>
                  <a:srgbClr val="FF0000"/>
                </a:solidFill>
              </a:rPr>
              <a:t>Ф(0:4):=ШАЛУ(3</a:t>
            </a:r>
            <a:r>
              <a:rPr lang="en-US" b="1" dirty="0">
                <a:solidFill>
                  <a:srgbClr val="FF0000"/>
                </a:solidFill>
              </a:rPr>
              <a:t>:7)</a:t>
            </a:r>
            <a:endParaRPr lang="ru-RU" b="1" dirty="0">
              <a:solidFill>
                <a:srgbClr val="FF0000"/>
              </a:solidFill>
            </a:endParaRPr>
          </a:p>
          <a:p>
            <a:r>
              <a:rPr lang="ru-RU" b="1" dirty="0"/>
              <a:t>12)</a:t>
            </a:r>
            <a:r>
              <a:rPr lang="en-US" b="1" dirty="0"/>
              <a:t>   </a:t>
            </a:r>
            <a:r>
              <a:rPr lang="ru-RU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y</a:t>
            </a:r>
            <a:r>
              <a:rPr lang="en-US" b="1" baseline="-25000" dirty="0">
                <a:solidFill>
                  <a:schemeClr val="accent2"/>
                </a:solidFill>
              </a:rPr>
              <a:t>4</a:t>
            </a:r>
            <a:r>
              <a:rPr lang="en-US" b="1" dirty="0">
                <a:solidFill>
                  <a:schemeClr val="accent2"/>
                </a:solidFill>
              </a:rPr>
              <a:t>:  </a:t>
            </a:r>
            <a:r>
              <a:rPr lang="ru-RU" b="1" dirty="0" err="1">
                <a:solidFill>
                  <a:schemeClr val="accent2"/>
                </a:solidFill>
              </a:rPr>
              <a:t>ПортА</a:t>
            </a:r>
            <a:r>
              <a:rPr lang="ru-RU" b="1" dirty="0">
                <a:solidFill>
                  <a:schemeClr val="accent2"/>
                </a:solidFill>
              </a:rPr>
              <a:t>:=А1</a:t>
            </a:r>
          </a:p>
          <a:p>
            <a:r>
              <a:rPr lang="ru-RU" b="1" dirty="0"/>
              <a:t>13) </a:t>
            </a:r>
            <a:r>
              <a:rPr lang="en-US" b="1" dirty="0"/>
              <a:t>   </a:t>
            </a:r>
            <a:r>
              <a:rPr lang="en-US" b="1" dirty="0">
                <a:solidFill>
                  <a:schemeClr val="accent2"/>
                </a:solidFill>
              </a:rPr>
              <a:t>y</a:t>
            </a:r>
            <a:r>
              <a:rPr lang="en-US" b="1" baseline="-25000" dirty="0">
                <a:solidFill>
                  <a:schemeClr val="accent2"/>
                </a:solidFill>
              </a:rPr>
              <a:t>9</a:t>
            </a:r>
            <a:r>
              <a:rPr lang="en-US" b="1" dirty="0">
                <a:solidFill>
                  <a:schemeClr val="accent2"/>
                </a:solidFill>
              </a:rPr>
              <a:t>:  </a:t>
            </a:r>
            <a:r>
              <a:rPr lang="ru-RU" b="1" dirty="0" err="1">
                <a:solidFill>
                  <a:schemeClr val="accent2"/>
                </a:solidFill>
              </a:rPr>
              <a:t>ЗпОП</a:t>
            </a:r>
            <a:endParaRPr lang="ru-RU" b="1" dirty="0">
              <a:solidFill>
                <a:schemeClr val="accent2"/>
              </a:solidFill>
            </a:endParaRPr>
          </a:p>
          <a:p>
            <a:endParaRPr lang="ru-RU" b="1" dirty="0">
              <a:solidFill>
                <a:schemeClr val="accent2"/>
              </a:solidFill>
            </a:endParaRPr>
          </a:p>
          <a:p>
            <a:pPr>
              <a:spcBef>
                <a:spcPct val="50000"/>
              </a:spcBef>
            </a:pPr>
            <a:endParaRPr lang="ru-RU" dirty="0"/>
          </a:p>
        </p:txBody>
      </p:sp>
      <p:sp>
        <p:nvSpPr>
          <p:cNvPr id="38916" name="Text Box 5"/>
          <p:cNvSpPr txBox="1">
            <a:spLocks noChangeArrowheads="1"/>
          </p:cNvSpPr>
          <p:nvPr/>
        </p:nvSpPr>
        <p:spPr bwMode="auto">
          <a:xfrm>
            <a:off x="250825" y="2276475"/>
            <a:ext cx="8642350" cy="294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700" b="1"/>
              <a:t>Помимо результата выполнения операции, на этом этапе (если выполнялась команда сложения, вычитания, инкрементирования, декрементирования, поразрядного И, ИЛИ, исключающего ИЛИ) сохраняется в регистре признака результата (РПР) позиционный код признака результата, сформированный шифратором (</a:t>
            </a:r>
            <a:r>
              <a:rPr lang="en-US" sz="1700" b="1"/>
              <a:t>Coder)</a:t>
            </a:r>
            <a:r>
              <a:rPr lang="ru-RU" sz="1700" b="1"/>
              <a:t>. </a:t>
            </a:r>
            <a:r>
              <a:rPr lang="ru-RU" sz="1700" b="1">
                <a:solidFill>
                  <a:srgbClr val="FF0000"/>
                </a:solidFill>
              </a:rPr>
              <a:t>Другие команды не должны изменять содержимое РПР!</a:t>
            </a:r>
          </a:p>
          <a:p>
            <a:pPr>
              <a:spcBef>
                <a:spcPct val="50000"/>
              </a:spcBef>
            </a:pPr>
            <a:r>
              <a:rPr lang="ru-RU" sz="1700" b="1"/>
              <a:t>Флаги исключительных ситуаций, которые могут возникать при выполнении арифметических операций, запоминаются на регистре флагов прерываний (РФ), для их последующего анализа и обработки системой прерываний</a:t>
            </a:r>
            <a:r>
              <a:rPr lang="en-US" sz="1700" b="1"/>
              <a:t>. </a:t>
            </a:r>
          </a:p>
          <a:p>
            <a:pPr>
              <a:spcBef>
                <a:spcPct val="50000"/>
              </a:spcBef>
            </a:pPr>
            <a:r>
              <a:rPr lang="ru-RU" sz="1700" b="1"/>
              <a:t>Если ШАЛУ(3:7)=00000, значит исключительной ситуации при выполнении операции в АЛУ не возникло, т.е. операция была выполнена успешно.</a:t>
            </a:r>
          </a:p>
        </p:txBody>
      </p:sp>
      <p:sp>
        <p:nvSpPr>
          <p:cNvPr id="38917" name="Text Box 6"/>
          <p:cNvSpPr txBox="1">
            <a:spLocks noChangeArrowheads="1"/>
          </p:cNvSpPr>
          <p:nvPr/>
        </p:nvSpPr>
        <p:spPr bwMode="auto">
          <a:xfrm>
            <a:off x="250825" y="5392738"/>
            <a:ext cx="8893175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>
                <a:solidFill>
                  <a:srgbClr val="FF0000"/>
                </a:solidFill>
              </a:rPr>
              <a:t>Внимание! В структуру процессора ввели еще два специальных регистра: двухразрядный РПР и (</a:t>
            </a:r>
            <a:r>
              <a:rPr lang="en-US" b="1">
                <a:solidFill>
                  <a:srgbClr val="FF0000"/>
                </a:solidFill>
              </a:rPr>
              <a:t>s+1)-</a:t>
            </a:r>
            <a:r>
              <a:rPr lang="ru-RU" b="1">
                <a:solidFill>
                  <a:srgbClr val="FF0000"/>
                </a:solidFill>
              </a:rPr>
              <a:t>разрядный РФ. Разрядность РФ больше числа флагов исключительных ситуаций на ШАЛУ, т.к. возможны прерывания не только от АЛУ,  но и от таймеров, внешних устройств и т.п. (рассмотрим позже).</a:t>
            </a:r>
          </a:p>
        </p:txBody>
      </p:sp>
      <p:graphicFrame>
        <p:nvGraphicFramePr>
          <p:cNvPr id="38914" name="Object 7"/>
          <p:cNvGraphicFramePr>
            <a:graphicFrameLocks noChangeAspect="1"/>
          </p:cNvGraphicFramePr>
          <p:nvPr/>
        </p:nvGraphicFramePr>
        <p:xfrm>
          <a:off x="4643438" y="333375"/>
          <a:ext cx="4500562" cy="205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8" name="Visio" r:id="rId3" imgW="4417042" imgH="2059053" progId="Visio.Drawing.11">
                  <p:embed/>
                </p:oleObj>
              </mc:Choice>
              <mc:Fallback>
                <p:oleObj name="Visio" r:id="rId3" imgW="4417042" imgH="2059053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33375"/>
                        <a:ext cx="4500562" cy="205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Box 1"/>
          <p:cNvSpPr txBox="1">
            <a:spLocks noChangeArrowheads="1"/>
          </p:cNvSpPr>
          <p:nvPr/>
        </p:nvSpPr>
        <p:spPr bwMode="auto">
          <a:xfrm>
            <a:off x="250825" y="692150"/>
            <a:ext cx="8497888" cy="556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/>
              <a:t>После выполнения арифметической (логической ) команды счетчик команд всегда  продвигается на длину выполненной команды. Таким образом, осуществляется переход к следующей по порядку команде. </a:t>
            </a:r>
          </a:p>
          <a:p>
            <a:endParaRPr lang="ru-RU" sz="2400" b="1"/>
          </a:p>
          <a:p>
            <a:r>
              <a:rPr lang="ru-RU" sz="2400" b="1"/>
              <a:t>А как осуществить переход к  произвольной команде, т.е. как организовать разветвляющийся или циклический вычислительный процесс?</a:t>
            </a:r>
          </a:p>
          <a:p>
            <a:endParaRPr lang="ru-RU" sz="2400" b="1"/>
          </a:p>
          <a:p>
            <a:r>
              <a:rPr lang="ru-RU" sz="2400" b="1"/>
              <a:t>Для этого служат команды перехода (передачи управления).</a:t>
            </a:r>
          </a:p>
          <a:p>
            <a:endParaRPr lang="ru-RU" sz="2400" b="1"/>
          </a:p>
          <a:p>
            <a:r>
              <a:rPr lang="ru-RU" sz="2400" b="1"/>
              <a:t>В качестве примера команды перехода рассмотрим </a:t>
            </a:r>
            <a:r>
              <a:rPr lang="ru-RU" sz="2400" b="1" u="sng"/>
              <a:t>команду условного перехода по маске.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4"/>
          <p:cNvGraphicFramePr>
            <a:graphicFrameLocks noChangeAspect="1"/>
          </p:cNvGraphicFramePr>
          <p:nvPr/>
        </p:nvGraphicFramePr>
        <p:xfrm>
          <a:off x="395288" y="0"/>
          <a:ext cx="52451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6" name="Visio" r:id="rId3" imgW="4528798" imgH="5729070" progId="Visio.Drawing.11">
                  <p:embed/>
                </p:oleObj>
              </mc:Choice>
              <mc:Fallback>
                <p:oleObj name="Visio" r:id="rId3" imgW="4528798" imgH="572907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0"/>
                        <a:ext cx="52451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Text Box 5"/>
          <p:cNvSpPr txBox="1">
            <a:spLocks noChangeArrowheads="1"/>
          </p:cNvSpPr>
          <p:nvPr/>
        </p:nvSpPr>
        <p:spPr bwMode="auto">
          <a:xfrm>
            <a:off x="5651500" y="0"/>
            <a:ext cx="3492500" cy="352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/>
              <a:t>Считаем, что первый этап рабочего цикла завершен, очередная команда выбрана на регистр команд, и это команда условного перехода по маске. </a:t>
            </a:r>
          </a:p>
          <a:p>
            <a:pPr>
              <a:spcBef>
                <a:spcPct val="50000"/>
              </a:spcBef>
            </a:pPr>
            <a:r>
              <a:rPr lang="ru-RU"/>
              <a:t>Формат команды:</a:t>
            </a:r>
          </a:p>
          <a:p>
            <a:pPr>
              <a:spcBef>
                <a:spcPct val="50000"/>
              </a:spcBef>
            </a:pPr>
            <a:r>
              <a:rPr lang="ru-RU" b="1"/>
              <a:t>КОП – РК(0:7)</a:t>
            </a:r>
            <a:r>
              <a:rPr lang="ru-RU"/>
              <a:t> (до 256 команд в системе команд процессора);</a:t>
            </a:r>
          </a:p>
          <a:p>
            <a:pPr>
              <a:spcBef>
                <a:spcPct val="50000"/>
              </a:spcBef>
            </a:pPr>
            <a:r>
              <a:rPr lang="en-US" b="1"/>
              <a:t>M (</a:t>
            </a:r>
            <a:r>
              <a:rPr lang="ru-RU" b="1"/>
              <a:t>маска) – РК(8:11);</a:t>
            </a:r>
          </a:p>
        </p:txBody>
      </p:sp>
      <p:sp>
        <p:nvSpPr>
          <p:cNvPr id="39941" name="Text Box 7"/>
          <p:cNvSpPr txBox="1">
            <a:spLocks noChangeArrowheads="1"/>
          </p:cNvSpPr>
          <p:nvPr/>
        </p:nvSpPr>
        <p:spPr bwMode="auto">
          <a:xfrm>
            <a:off x="6408738" y="6216650"/>
            <a:ext cx="27352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А – РК(12:</a:t>
            </a:r>
            <a:r>
              <a:rPr lang="en-US" b="1"/>
              <a:t>n)</a:t>
            </a:r>
            <a:r>
              <a:rPr lang="en-US"/>
              <a:t> – </a:t>
            </a:r>
            <a:r>
              <a:rPr lang="ru-RU"/>
              <a:t>адрес перехода.</a:t>
            </a:r>
          </a:p>
        </p:txBody>
      </p:sp>
      <p:sp>
        <p:nvSpPr>
          <p:cNvPr id="39942" name="Text Box 8"/>
          <p:cNvSpPr txBox="1">
            <a:spLocks noChangeArrowheads="1"/>
          </p:cNvSpPr>
          <p:nvPr/>
        </p:nvSpPr>
        <p:spPr bwMode="auto">
          <a:xfrm>
            <a:off x="3132138" y="692150"/>
            <a:ext cx="2519362" cy="590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600" i="1">
                <a:solidFill>
                  <a:srgbClr val="FF0000"/>
                </a:solidFill>
              </a:rPr>
              <a:t>Упрощенный вариант – прямая адресация</a:t>
            </a:r>
          </a:p>
        </p:txBody>
      </p:sp>
      <p:sp>
        <p:nvSpPr>
          <p:cNvPr id="39943" name="Line 10"/>
          <p:cNvSpPr>
            <a:spLocks noChangeShapeType="1"/>
          </p:cNvSpPr>
          <p:nvPr/>
        </p:nvSpPr>
        <p:spPr bwMode="auto">
          <a:xfrm flipH="1" flipV="1">
            <a:off x="3779838" y="404813"/>
            <a:ext cx="504825" cy="2873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pic>
        <p:nvPicPr>
          <p:cNvPr id="39944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95963" y="3500438"/>
            <a:ext cx="2578100" cy="257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945" name="TextBox 8"/>
          <p:cNvSpPr txBox="1">
            <a:spLocks noChangeArrowheads="1"/>
          </p:cNvSpPr>
          <p:nvPr/>
        </p:nvSpPr>
        <p:spPr bwMode="auto">
          <a:xfrm>
            <a:off x="2555875" y="6308725"/>
            <a:ext cx="2952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>
                <a:solidFill>
                  <a:srgbClr val="FF0000"/>
                </a:solidFill>
              </a:rPr>
              <a:t>   Как задать переход по </a:t>
            </a:r>
          </a:p>
        </p:txBody>
      </p:sp>
      <p:graphicFrame>
        <p:nvGraphicFramePr>
          <p:cNvPr id="39939" name="Object 9"/>
          <p:cNvGraphicFramePr>
            <a:graphicFrameLocks noChangeAspect="1"/>
          </p:cNvGraphicFramePr>
          <p:nvPr/>
        </p:nvGraphicFramePr>
        <p:xfrm>
          <a:off x="5435600" y="6381750"/>
          <a:ext cx="809625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7" name="Формула" r:id="rId6" imgW="749160" imgH="266400" progId="Equation.3">
                  <p:embed/>
                </p:oleObj>
              </mc:Choice>
              <mc:Fallback>
                <p:oleObj name="Формула" r:id="rId6" imgW="749160" imgH="266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6381750"/>
                        <a:ext cx="809625" cy="287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Скругленный прямоугольник 10"/>
          <p:cNvSpPr/>
          <p:nvPr/>
        </p:nvSpPr>
        <p:spPr>
          <a:xfrm>
            <a:off x="5435600" y="6381750"/>
            <a:ext cx="865188" cy="28733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668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449263" algn="ctr"/>
            <a:r>
              <a:rPr lang="ru-RU" b="1" u="sng"/>
              <a:t>Описание команды</a:t>
            </a:r>
            <a:r>
              <a:rPr lang="ru-RU" u="sng"/>
              <a:t>.</a:t>
            </a:r>
            <a:r>
              <a:rPr lang="ru-RU"/>
              <a:t> </a:t>
            </a:r>
          </a:p>
          <a:p>
            <a:pPr indent="449263" algn="ctr"/>
            <a:endParaRPr lang="ru-RU"/>
          </a:p>
          <a:p>
            <a:pPr indent="449263"/>
            <a:r>
              <a:rPr lang="ru-RU" b="1"/>
              <a:t>Если в поле маски перехода М или в поле адреса перехода А нули, то переход не выполняется (рассматриваемая  команда соответствует команде «нет операции»).</a:t>
            </a:r>
          </a:p>
          <a:p>
            <a:pPr indent="449263"/>
            <a:r>
              <a:rPr lang="ru-RU" b="1"/>
              <a:t>Если в поле М все единицы, переход выполняется обязательно (рассматриваемая команда соответствует команде безусловного перехода). </a:t>
            </a:r>
          </a:p>
          <a:p>
            <a:pPr indent="449263"/>
            <a:r>
              <a:rPr lang="ru-RU" b="1"/>
              <a:t>Если значение признака результата соответствует коду, указанному в поле М, продвинутый (СчАК продвигается после выборки команды перехода перед ее выполнением) адрес команды в СчАК замещается адресом перехода А. В противном случае продолжается выполнение обычной последовательности команд с использованием продвинутого адреса. Признак результата остается без изменения. </a:t>
            </a:r>
          </a:p>
          <a:p>
            <a:pPr indent="449263"/>
            <a:r>
              <a:rPr lang="ru-RU" b="1"/>
              <a:t>Прерывания программы отсутствуют.</a:t>
            </a:r>
          </a:p>
          <a:p>
            <a:pPr indent="449263"/>
            <a:endParaRPr lang="ru-RU" b="1"/>
          </a:p>
          <a:p>
            <a:pPr indent="449263"/>
            <a:r>
              <a:rPr lang="ru-RU" b="1"/>
              <a:t>Вопрос: Какова разрядность поля А (чему равно</a:t>
            </a:r>
            <a:r>
              <a:rPr lang="en-US" b="1"/>
              <a:t> n) </a:t>
            </a:r>
            <a:r>
              <a:rPr lang="ru-RU" b="1"/>
              <a:t>и какова разрядность СчАК ( чему равно </a:t>
            </a:r>
            <a:r>
              <a:rPr lang="en-US" b="1"/>
              <a:t>k</a:t>
            </a:r>
            <a:r>
              <a:rPr lang="ru-RU" b="1"/>
              <a:t>)?</a:t>
            </a:r>
          </a:p>
          <a:p>
            <a:pPr indent="449263"/>
            <a:r>
              <a:rPr lang="ru-RU" b="1"/>
              <a:t>Разрядность</a:t>
            </a:r>
            <a:r>
              <a:rPr lang="en-US" b="1"/>
              <a:t> </a:t>
            </a:r>
            <a:r>
              <a:rPr lang="ru-RU" b="1"/>
              <a:t>адреса в вычислительной системе ( </a:t>
            </a:r>
            <a:r>
              <a:rPr lang="en-US" b="1"/>
              <a:t>N</a:t>
            </a:r>
            <a:r>
              <a:rPr lang="en-US" b="1" baseline="-25000"/>
              <a:t>A</a:t>
            </a:r>
            <a:r>
              <a:rPr lang="ru-RU" b="1"/>
              <a:t>) определяется в зависимости от объема ОП в байтах </a:t>
            </a:r>
            <a:r>
              <a:rPr lang="en-US" b="1"/>
              <a:t>E</a:t>
            </a:r>
            <a:r>
              <a:rPr lang="ru-RU" b="1" baseline="-25000"/>
              <a:t>ОП</a:t>
            </a:r>
            <a:r>
              <a:rPr lang="ru-RU" b="1"/>
              <a:t>:</a:t>
            </a:r>
          </a:p>
          <a:p>
            <a:pPr indent="449263"/>
            <a:endParaRPr lang="ru-RU" b="1"/>
          </a:p>
          <a:p>
            <a:pPr indent="449263"/>
            <a:endParaRPr lang="ru-RU" b="1"/>
          </a:p>
          <a:p>
            <a:pPr indent="449263"/>
            <a:endParaRPr lang="ru-RU" b="1"/>
          </a:p>
          <a:p>
            <a:pPr indent="449263"/>
            <a:r>
              <a:rPr lang="ru-RU" b="1"/>
              <a:t>В частности, такую разрядность будут иметь СчАК и поле А регистра команд (РК).</a:t>
            </a:r>
          </a:p>
        </p:txBody>
      </p:sp>
      <p:graphicFrame>
        <p:nvGraphicFramePr>
          <p:cNvPr id="40962" name="Object 6"/>
          <p:cNvGraphicFramePr>
            <a:graphicFrameLocks noChangeAspect="1"/>
          </p:cNvGraphicFramePr>
          <p:nvPr/>
        </p:nvGraphicFramePr>
        <p:xfrm>
          <a:off x="3132138" y="5516563"/>
          <a:ext cx="219075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6" name="Формула" r:id="rId3" imgW="1371600" imgH="304560" progId="Equation.3">
                  <p:embed/>
                </p:oleObj>
              </mc:Choice>
              <mc:Fallback>
                <p:oleObj name="Формула" r:id="rId3" imgW="1371600" imgH="3045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516563"/>
                        <a:ext cx="2190750" cy="487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4"/>
          <p:cNvGraphicFramePr>
            <a:graphicFrameLocks noChangeAspect="1"/>
          </p:cNvGraphicFramePr>
          <p:nvPr/>
        </p:nvGraphicFramePr>
        <p:xfrm>
          <a:off x="1547813" y="1430338"/>
          <a:ext cx="6264275" cy="542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0" name="Visio" r:id="rId3" imgW="4197311" imgH="3532621" progId="Visio.Drawing.11">
                  <p:embed/>
                </p:oleObj>
              </mc:Choice>
              <mc:Fallback>
                <p:oleObj name="Visio" r:id="rId3" imgW="4197311" imgH="353262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430338"/>
                        <a:ext cx="6264275" cy="542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Text Box 5"/>
          <p:cNvSpPr txBox="1">
            <a:spLocks noChangeArrowheads="1"/>
          </p:cNvSpPr>
          <p:nvPr/>
        </p:nvSpPr>
        <p:spPr bwMode="auto">
          <a:xfrm>
            <a:off x="250825" y="0"/>
            <a:ext cx="8569325" cy="1497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b="1"/>
              <a:t>Фрагмент структурной схемы процессора, исполняющий команду условного перехода по маске. </a:t>
            </a:r>
          </a:p>
          <a:p>
            <a:pPr>
              <a:spcBef>
                <a:spcPct val="50000"/>
              </a:spcBef>
            </a:pPr>
            <a:r>
              <a:rPr lang="ru-RU" sz="1600" i="1"/>
              <a:t>Нумерация управляющих и осведомительных сигналов взята условно (не связана с нумерацией в рассмотренном ранее фрагменте, исполняющем арифметическую операцию.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Object 4"/>
          <p:cNvGraphicFramePr>
            <a:graphicFrameLocks noChangeAspect="1"/>
          </p:cNvGraphicFramePr>
          <p:nvPr/>
        </p:nvGraphicFramePr>
        <p:xfrm>
          <a:off x="1187450" y="1268413"/>
          <a:ext cx="7200900" cy="443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8" name="Visio" r:id="rId3" imgW="3737601" imgH="2301184" progId="Visio.Drawing.11">
                  <p:embed/>
                </p:oleObj>
              </mc:Choice>
              <mc:Fallback>
                <p:oleObj name="Visio" r:id="rId3" imgW="3737601" imgH="230118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268413"/>
                        <a:ext cx="7200900" cy="443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Text Box 5"/>
          <p:cNvSpPr txBox="1">
            <a:spLocks noChangeArrowheads="1"/>
          </p:cNvSpPr>
          <p:nvPr/>
        </p:nvSpPr>
        <p:spPr bwMode="auto">
          <a:xfrm>
            <a:off x="539750" y="0"/>
            <a:ext cx="8280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800" b="1"/>
              <a:t>Схема вычисления осведомительного сигнала </a:t>
            </a:r>
            <a:r>
              <a:rPr lang="en-US" sz="2800" b="1"/>
              <a:t>x</a:t>
            </a:r>
            <a:r>
              <a:rPr lang="en-US" sz="2800" b="1" baseline="-25000"/>
              <a:t>4</a:t>
            </a:r>
            <a:r>
              <a:rPr lang="en-US" sz="2800" b="1"/>
              <a:t> (</a:t>
            </a:r>
            <a:r>
              <a:rPr lang="ru-RU" sz="2800" b="1"/>
              <a:t>булева функция </a:t>
            </a:r>
            <a:r>
              <a:rPr lang="en-US" sz="2800" b="1"/>
              <a:t>f</a:t>
            </a:r>
            <a:r>
              <a:rPr lang="en-US" sz="2800" b="1" baseline="-25000"/>
              <a:t>4</a:t>
            </a:r>
            <a:r>
              <a:rPr lang="en-US" sz="2800" b="1"/>
              <a:t>)</a:t>
            </a:r>
            <a:endParaRPr lang="ru-RU" sz="2800" b="1"/>
          </a:p>
        </p:txBody>
      </p:sp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3708400" y="5661025"/>
            <a:ext cx="518477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2000" b="1" dirty="0">
                <a:solidFill>
                  <a:schemeClr val="accent6"/>
                </a:solidFill>
              </a:rPr>
              <a:t>Комбинационные схемы вычисления осведомительных сигналов </a:t>
            </a:r>
            <a:r>
              <a:rPr lang="en-US" sz="2000" b="1" dirty="0">
                <a:solidFill>
                  <a:schemeClr val="accent6"/>
                </a:solidFill>
              </a:rPr>
              <a:t>x</a:t>
            </a:r>
            <a:r>
              <a:rPr lang="en-US" sz="2000" b="1" baseline="-25000" dirty="0">
                <a:solidFill>
                  <a:schemeClr val="accent6"/>
                </a:solidFill>
              </a:rPr>
              <a:t>1</a:t>
            </a:r>
            <a:r>
              <a:rPr lang="en-US" sz="2000" b="1" dirty="0">
                <a:solidFill>
                  <a:schemeClr val="accent6"/>
                </a:solidFill>
              </a:rPr>
              <a:t>, x</a:t>
            </a:r>
            <a:r>
              <a:rPr lang="en-US" sz="2000" b="1" baseline="-25000" dirty="0">
                <a:solidFill>
                  <a:schemeClr val="accent6"/>
                </a:solidFill>
              </a:rPr>
              <a:t>2</a:t>
            </a:r>
            <a:r>
              <a:rPr lang="en-US" sz="2000" b="1" dirty="0">
                <a:solidFill>
                  <a:schemeClr val="accent6"/>
                </a:solidFill>
              </a:rPr>
              <a:t>, x</a:t>
            </a:r>
            <a:r>
              <a:rPr lang="en-US" sz="2000" b="1" baseline="-25000" dirty="0">
                <a:solidFill>
                  <a:schemeClr val="accent6"/>
                </a:solidFill>
              </a:rPr>
              <a:t>3</a:t>
            </a:r>
            <a:r>
              <a:rPr lang="en-US" sz="2000" b="1" dirty="0">
                <a:solidFill>
                  <a:schemeClr val="accent6"/>
                </a:solidFill>
              </a:rPr>
              <a:t> </a:t>
            </a:r>
            <a:r>
              <a:rPr lang="ru-RU" sz="2000" b="1" dirty="0">
                <a:solidFill>
                  <a:schemeClr val="accent6"/>
                </a:solidFill>
              </a:rPr>
              <a:t>разработайте</a:t>
            </a:r>
            <a:r>
              <a:rPr lang="en-US" sz="2000" b="1" dirty="0">
                <a:solidFill>
                  <a:schemeClr val="accent6"/>
                </a:solidFill>
              </a:rPr>
              <a:t> </a:t>
            </a:r>
            <a:r>
              <a:rPr lang="ru-RU" sz="2000" b="1" dirty="0">
                <a:solidFill>
                  <a:schemeClr val="accent6"/>
                </a:solidFill>
              </a:rPr>
              <a:t>самостоятельно !</a:t>
            </a:r>
          </a:p>
        </p:txBody>
      </p:sp>
      <p:sp>
        <p:nvSpPr>
          <p:cNvPr id="43014" name="TextBox 5"/>
          <p:cNvSpPr txBox="1">
            <a:spLocks noChangeArrowheads="1"/>
          </p:cNvSpPr>
          <p:nvPr/>
        </p:nvSpPr>
        <p:spPr bwMode="auto">
          <a:xfrm>
            <a:off x="250825" y="4221163"/>
            <a:ext cx="2233613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 i="1">
                <a:solidFill>
                  <a:srgbClr val="FF0000"/>
                </a:solidFill>
              </a:rPr>
              <a:t>Промоделируйте работу схемы, например, для переходов по</a:t>
            </a:r>
          </a:p>
        </p:txBody>
      </p:sp>
      <p:graphicFrame>
        <p:nvGraphicFramePr>
          <p:cNvPr id="43011" name="Object 6"/>
          <p:cNvGraphicFramePr>
            <a:graphicFrameLocks noChangeAspect="1"/>
          </p:cNvGraphicFramePr>
          <p:nvPr/>
        </p:nvGraphicFramePr>
        <p:xfrm>
          <a:off x="371475" y="5468938"/>
          <a:ext cx="13239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9" name="Формула" r:id="rId5" imgW="698400" imgH="241200" progId="Equation.3">
                  <p:embed/>
                </p:oleObj>
              </mc:Choice>
              <mc:Fallback>
                <p:oleObj name="Формула" r:id="rId5" imgW="69840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" y="5468938"/>
                        <a:ext cx="13239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323850" y="5373688"/>
            <a:ext cx="1439863" cy="6477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Прямоугольник 3"/>
          <p:cNvSpPr>
            <a:spLocks noChangeArrowheads="1"/>
          </p:cNvSpPr>
          <p:nvPr/>
        </p:nvSpPr>
        <p:spPr bwMode="auto">
          <a:xfrm>
            <a:off x="755650" y="1341438"/>
            <a:ext cx="7920038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4000" b="1"/>
              <a:t>Переключения с программы на программу. </a:t>
            </a:r>
          </a:p>
          <a:p>
            <a:pPr algn="ctr"/>
            <a:r>
              <a:rPr lang="ru-RU" sz="4000" b="1"/>
              <a:t>Обработка прерываний</a:t>
            </a:r>
            <a:endParaRPr lang="ru-RU" sz="4000"/>
          </a:p>
        </p:txBody>
      </p:sp>
      <p:sp>
        <p:nvSpPr>
          <p:cNvPr id="8195" name="TextBox 4"/>
          <p:cNvSpPr txBox="1">
            <a:spLocks noChangeArrowheads="1"/>
          </p:cNvSpPr>
          <p:nvPr/>
        </p:nvSpPr>
        <p:spPr bwMode="auto">
          <a:xfrm>
            <a:off x="900113" y="4149725"/>
            <a:ext cx="77755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b="1" i="1">
                <a:solidFill>
                  <a:srgbClr val="FF0000"/>
                </a:solidFill>
              </a:rPr>
              <a:t>Для поддержки системы прерываний в состав процессора  введены регистр флагов (РФ) и регистр-указатель стека (УС).</a:t>
            </a:r>
            <a:endParaRPr lang="ru-RU" sz="24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8163" y="0"/>
            <a:ext cx="7850187" cy="667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3"/>
          <p:cNvSpPr txBox="1">
            <a:spLocks noChangeArrowheads="1"/>
          </p:cNvSpPr>
          <p:nvPr/>
        </p:nvSpPr>
        <p:spPr bwMode="auto">
          <a:xfrm>
            <a:off x="395288" y="333375"/>
            <a:ext cx="8280400" cy="646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/>
              <a:t>Во время выполнения программы может возникнуть прерывание, вызванное, например, исключительной ситуацией, произошедшей в процессе выполнения очередной команды (деление на ноль, переполнение с фиксированной точкой, исчезновение порядка, переполнение порядка, потеря значимости и.т.п.). Подобные прерывания называются исключениями и, как правило, не могут быть замаскированы (маскирование отменяет обработку прерывания).</a:t>
            </a:r>
            <a:endParaRPr lang="en-US" b="1"/>
          </a:p>
          <a:p>
            <a:endParaRPr lang="ru-RU" b="1"/>
          </a:p>
          <a:p>
            <a:r>
              <a:rPr lang="ru-RU" b="1"/>
              <a:t>Другой тип прерываний – прерывания, поступившие от внешних устройств (поступил запрос на ввод или вывод данных от внешнего устройства, пользователь нажал кнопку </a:t>
            </a:r>
            <a:r>
              <a:rPr lang="en-US" b="1"/>
              <a:t>&lt;Num Lock&gt; </a:t>
            </a:r>
            <a:r>
              <a:rPr lang="ru-RU" b="1"/>
              <a:t>на клавиатуре). </a:t>
            </a:r>
          </a:p>
          <a:p>
            <a:r>
              <a:rPr lang="ru-RU" b="1"/>
              <a:t>Все наблюдали последнюю ситуацию: во время работы программы, например, текстового процессора  </a:t>
            </a:r>
            <a:r>
              <a:rPr lang="en-US" b="1"/>
              <a:t>WORD</a:t>
            </a:r>
            <a:r>
              <a:rPr lang="ru-RU" b="1"/>
              <a:t>, при нажатии клавиши  </a:t>
            </a:r>
            <a:r>
              <a:rPr lang="en-US" b="1"/>
              <a:t>&lt;Num Lock&gt; </a:t>
            </a:r>
            <a:r>
              <a:rPr lang="ru-RU" b="1"/>
              <a:t>загорается лампочка, т.е. прерывание от клавиатуры обрабатывается. Это значит, что во время работы программы </a:t>
            </a:r>
            <a:r>
              <a:rPr lang="en-US" b="1"/>
              <a:t>Word </a:t>
            </a:r>
            <a:r>
              <a:rPr lang="ru-RU" b="1"/>
              <a:t>осуществляется переход на программу обработки прерывания, которая и зажигает лампочку (или тушит , если клавиша </a:t>
            </a:r>
            <a:r>
              <a:rPr lang="en-US" b="1"/>
              <a:t>&lt;Num Lock&gt; </a:t>
            </a:r>
            <a:r>
              <a:rPr lang="ru-RU" b="1"/>
              <a:t>была нажата повторно). После выполнения программы обработки прерывания процессор возвращается к выполнению прерванной программы (</a:t>
            </a:r>
            <a:r>
              <a:rPr lang="en-US" b="1"/>
              <a:t>Word)</a:t>
            </a:r>
            <a:r>
              <a:rPr lang="ru-RU" b="1"/>
              <a:t>.</a:t>
            </a:r>
            <a:endParaRPr lang="en-US" b="1"/>
          </a:p>
          <a:p>
            <a:r>
              <a:rPr lang="ru-RU" b="1"/>
              <a:t>Прерывания от внешних устройств могут быть замаскированы, т.е. их обработка может быть отменена.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6"/>
          <p:cNvSpPr txBox="1">
            <a:spLocks noChangeArrowheads="1"/>
          </p:cNvSpPr>
          <p:nvPr/>
        </p:nvSpPr>
        <p:spPr bwMode="auto">
          <a:xfrm>
            <a:off x="250825" y="188913"/>
            <a:ext cx="8893175" cy="6246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/>
              <a:t>Современные компьютеры работают в мультипрограммном режиме.  Каждой из программ выделяется квант времени </a:t>
            </a:r>
            <a:r>
              <a:rPr lang="ru-RU" sz="2000" b="1">
                <a:sym typeface="Symbol" pitchFamily="18" charset="2"/>
              </a:rPr>
              <a:t></a:t>
            </a:r>
            <a:r>
              <a:rPr lang="ru-RU" sz="2000" b="1"/>
              <a:t>(например, </a:t>
            </a:r>
            <a:r>
              <a:rPr lang="ru-RU" sz="2000" b="1">
                <a:sym typeface="Symbol" pitchFamily="18" charset="2"/>
              </a:rPr>
              <a:t>=1</a:t>
            </a:r>
            <a:r>
              <a:rPr lang="en-US" sz="2000" b="1">
                <a:sym typeface="Symbol" pitchFamily="18" charset="2"/>
              </a:rPr>
              <a:t>/30 c).</a:t>
            </a:r>
            <a:r>
              <a:rPr lang="ru-RU" sz="2000" b="1">
                <a:sym typeface="Symbol" pitchFamily="18" charset="2"/>
              </a:rPr>
              <a:t> По истечении этого кванта возникает прерывание от таймера, и процессор переключается на выполнение другой программы. Поскольку выделяемый квант мал, у пользователя создается иллюзия непрерывной работы его программы. Возврат осуществляется именно в то место программы, в котором она была прервана.</a:t>
            </a:r>
          </a:p>
          <a:p>
            <a:endParaRPr lang="ru-RU" sz="2000" b="1">
              <a:sym typeface="Symbol" pitchFamily="18" charset="2"/>
            </a:endParaRPr>
          </a:p>
          <a:p>
            <a:pPr algn="ctr"/>
            <a:r>
              <a:rPr lang="ru-RU" sz="2000" b="1" u="sng">
                <a:sym typeface="Symbol" pitchFamily="18" charset="2"/>
              </a:rPr>
              <a:t>Аппаратная поддержка системы прерываний</a:t>
            </a:r>
          </a:p>
          <a:p>
            <a:pPr algn="ctr"/>
            <a:endParaRPr lang="ru-RU" sz="2000" b="1" u="sng">
              <a:sym typeface="Symbol" pitchFamily="18" charset="2"/>
            </a:endParaRPr>
          </a:p>
          <a:p>
            <a:r>
              <a:rPr lang="ru-RU" sz="2000" b="1">
                <a:sym typeface="Symbol" pitchFamily="18" charset="2"/>
              </a:rPr>
              <a:t>Для поддержки системы прерываний процессор имеет  два регистра специальных функций: регистр флагов (РФ) прерываний и регистр масок  (РМ) прерываний. Число битов в этих регистрах соответствует числу источников  (причин) прерываний, </a:t>
            </a:r>
            <a:r>
              <a:rPr lang="en-US" sz="2000" b="1">
                <a:sym typeface="Symbol" pitchFamily="18" charset="2"/>
              </a:rPr>
              <a:t>i-</a:t>
            </a:r>
            <a:r>
              <a:rPr lang="ru-RU" sz="2000" b="1">
                <a:sym typeface="Symbol" pitchFamily="18" charset="2"/>
              </a:rPr>
              <a:t>ый бит соответствует </a:t>
            </a:r>
            <a:r>
              <a:rPr lang="en-US" sz="2000" b="1">
                <a:sym typeface="Symbol" pitchFamily="18" charset="2"/>
              </a:rPr>
              <a:t>i-</a:t>
            </a:r>
            <a:r>
              <a:rPr lang="ru-RU" sz="2000" b="1">
                <a:sym typeface="Symbol" pitchFamily="18" charset="2"/>
              </a:rPr>
              <a:t>ой причине прерывания. Если в РМ процессора установить в единицу </a:t>
            </a:r>
            <a:r>
              <a:rPr lang="en-US" sz="2000" b="1">
                <a:sym typeface="Symbol" pitchFamily="18" charset="2"/>
              </a:rPr>
              <a:t>i-</a:t>
            </a:r>
            <a:r>
              <a:rPr lang="ru-RU" sz="2000" b="1">
                <a:sym typeface="Symbol" pitchFamily="18" charset="2"/>
              </a:rPr>
              <a:t>ый бит (это можно сделать специальной командой, которая есть в системе команд процессора), то соответствующее прерывание обрабатываться не будет. Как уже говорилось выше, не все прерывания могут быть замаскированы.</a:t>
            </a:r>
            <a:endParaRPr lang="ru-RU" sz="20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3"/>
          <p:cNvSpPr txBox="1">
            <a:spLocks noChangeArrowheads="1"/>
          </p:cNvSpPr>
          <p:nvPr/>
        </p:nvSpPr>
        <p:spPr bwMode="auto">
          <a:xfrm>
            <a:off x="0" y="0"/>
            <a:ext cx="9144000" cy="712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b="1"/>
              <a:t>В ОП (если гарвардская архитектура, то в памяти программ) первые </a:t>
            </a:r>
            <a:r>
              <a:rPr lang="en-US" b="1"/>
              <a:t>n</a:t>
            </a:r>
            <a:r>
              <a:rPr lang="ru-RU" b="1"/>
              <a:t> слов отводятся под таблицу векторов прерываний (ТВП). Программист не должен их использовать при низкоуровневом программировании (на ассемблере или в машинных кодах). Трансляторы с языков высокого уровня их тоже не используют.</a:t>
            </a:r>
          </a:p>
          <a:p>
            <a:pPr>
              <a:spcBef>
                <a:spcPts val="600"/>
              </a:spcBef>
            </a:pPr>
            <a:r>
              <a:rPr lang="ru-RU" b="1"/>
              <a:t>Каждому биту </a:t>
            </a:r>
            <a:r>
              <a:rPr lang="en-US" b="1"/>
              <a:t>F</a:t>
            </a:r>
            <a:r>
              <a:rPr lang="en-US" b="1" baseline="-25000"/>
              <a:t>i </a:t>
            </a:r>
            <a:r>
              <a:rPr lang="ru-RU" b="1"/>
              <a:t>в регистре флагов РФ, как уже говорилось, соответствует определенная</a:t>
            </a:r>
            <a:r>
              <a:rPr lang="en-US" b="1"/>
              <a:t> </a:t>
            </a:r>
            <a:r>
              <a:rPr lang="ru-RU" b="1"/>
              <a:t>причина прерывания и слово в ТВП.</a:t>
            </a:r>
          </a:p>
          <a:p>
            <a:r>
              <a:rPr lang="ru-RU" b="1"/>
              <a:t>В этом (</a:t>
            </a:r>
            <a:r>
              <a:rPr lang="en-US" b="1"/>
              <a:t>i-</a:t>
            </a:r>
            <a:r>
              <a:rPr lang="ru-RU" b="1"/>
              <a:t>ом) слове ТВП записана (в двоичном виде) команда безусловного перехода на адрес </a:t>
            </a:r>
            <a:r>
              <a:rPr lang="en-US" b="1"/>
              <a:t>A</a:t>
            </a:r>
            <a:r>
              <a:rPr lang="en-US" b="1" baseline="-25000"/>
              <a:t>i</a:t>
            </a:r>
            <a:r>
              <a:rPr lang="en-US" b="1"/>
              <a:t> </a:t>
            </a:r>
            <a:r>
              <a:rPr lang="ru-RU" b="1"/>
              <a:t>первой команды</a:t>
            </a:r>
            <a:r>
              <a:rPr lang="en-US" b="1"/>
              <a:t> </a:t>
            </a:r>
            <a:r>
              <a:rPr lang="ru-RU" b="1"/>
              <a:t>программы обработки соответствующего прерывания, которая также хранится в ОП.</a:t>
            </a:r>
          </a:p>
          <a:p>
            <a:pPr>
              <a:spcBef>
                <a:spcPts val="600"/>
              </a:spcBef>
            </a:pPr>
            <a:r>
              <a:rPr lang="ru-RU" b="1"/>
              <a:t>Для осуществления возможности возврата в определенное  место прерванной программы  (то, в котором она была прервана) в ОП выделяется определенная область под стек, а в структуру процессора вводится еще один специальный регистр – </a:t>
            </a:r>
            <a:r>
              <a:rPr lang="ru-RU" b="1">
                <a:solidFill>
                  <a:srgbClr val="FF0000"/>
                </a:solidFill>
              </a:rPr>
              <a:t>указатель стека (УС)</a:t>
            </a:r>
            <a:r>
              <a:rPr lang="ru-RU" b="1">
                <a:solidFill>
                  <a:schemeClr val="tx2"/>
                </a:solidFill>
              </a:rPr>
              <a:t>. </a:t>
            </a:r>
          </a:p>
          <a:p>
            <a:pPr>
              <a:spcBef>
                <a:spcPts val="600"/>
              </a:spcBef>
            </a:pPr>
            <a:r>
              <a:rPr lang="ru-RU" b="1"/>
              <a:t>В УС всегда находится адрес слова, которое является «верхушкой» стека (верхнего свободного элемента стека).</a:t>
            </a:r>
          </a:p>
          <a:p>
            <a:r>
              <a:rPr lang="ru-RU" b="1">
                <a:solidFill>
                  <a:srgbClr val="FF0000"/>
                </a:solidFill>
              </a:rPr>
              <a:t>Стек – структура данных, реализующая принцип </a:t>
            </a:r>
            <a:r>
              <a:rPr lang="en-US" b="1">
                <a:solidFill>
                  <a:srgbClr val="FF0000"/>
                </a:solidFill>
              </a:rPr>
              <a:t>LIFO (last in</a:t>
            </a:r>
            <a:r>
              <a:rPr lang="ru-RU" b="1">
                <a:solidFill>
                  <a:srgbClr val="FF0000"/>
                </a:solidFill>
              </a:rPr>
              <a:t>, </a:t>
            </a:r>
            <a:r>
              <a:rPr lang="en-US" b="1">
                <a:solidFill>
                  <a:srgbClr val="FF0000"/>
                </a:solidFill>
              </a:rPr>
              <a:t>first out) – </a:t>
            </a:r>
            <a:r>
              <a:rPr lang="ru-RU" b="1">
                <a:solidFill>
                  <a:srgbClr val="FF0000"/>
                </a:solidFill>
              </a:rPr>
              <a:t>последний вошел, первый вышел. </a:t>
            </a:r>
            <a:r>
              <a:rPr lang="ru-RU" b="1"/>
              <a:t>Если информация записывается в стек, то она записывается в «верхушку стека», т.е. в слово, адрес которого записан в УС. После этого адрес  в УС изменяется (в нашей иллюстрации увеличивается) так, чтобы он вновь указывал на свободное слово (верхушку стека). При извлечении информации из стека сначала изменяется значение в УС (уменьшается в нашей иллюстрации) для того, чтобы из стека было извлечено значение, записанное  последним. </a:t>
            </a:r>
          </a:p>
        </p:txBody>
      </p:sp>
      <p:sp>
        <p:nvSpPr>
          <p:cNvPr id="12291" name="TextBox 2"/>
          <p:cNvSpPr txBox="1">
            <a:spLocks noChangeArrowheads="1"/>
          </p:cNvSpPr>
          <p:nvPr/>
        </p:nvSpPr>
        <p:spPr bwMode="auto">
          <a:xfrm>
            <a:off x="8893175" y="0"/>
            <a:ext cx="250825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 b="1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3"/>
          <p:cNvSpPr txBox="1">
            <a:spLocks noChangeArrowheads="1"/>
          </p:cNvSpPr>
          <p:nvPr/>
        </p:nvSpPr>
        <p:spPr bwMode="auto">
          <a:xfrm>
            <a:off x="323850" y="333375"/>
            <a:ext cx="8496300" cy="618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b="1"/>
              <a:t>После выполнения очередной команды процессор анализирует РФ. При обнаружении  единицы в </a:t>
            </a:r>
            <a:r>
              <a:rPr lang="en-US" sz="2000" b="1"/>
              <a:t>i-</a:t>
            </a:r>
            <a:r>
              <a:rPr lang="ru-RU" sz="2000" b="1"/>
              <a:t>ом бите РФ (</a:t>
            </a:r>
            <a:r>
              <a:rPr lang="en-US" sz="2000" b="1"/>
              <a:t>Fi = 1)</a:t>
            </a:r>
            <a:r>
              <a:rPr lang="ru-RU" sz="2000" b="1"/>
              <a:t>, производятся следующие действия:</a:t>
            </a:r>
          </a:p>
          <a:p>
            <a:pPr>
              <a:buFontTx/>
              <a:buAutoNum type="arabicParenR"/>
            </a:pPr>
            <a:r>
              <a:rPr lang="ru-RU" sz="2000" b="1"/>
              <a:t>В слово ОП, на которое указывает УС, копируется содержимое СК (счетчик команд указывает на следующую, еще не выполненную команду). </a:t>
            </a:r>
            <a:r>
              <a:rPr lang="en-US" sz="2000" b="1"/>
              <a:t> </a:t>
            </a:r>
            <a:r>
              <a:rPr lang="ru-RU" sz="2000" b="1"/>
              <a:t>После этого УС увеличивается на 1, чтобы указывать на свободное слово.</a:t>
            </a:r>
          </a:p>
          <a:p>
            <a:pPr algn="ctr"/>
            <a:r>
              <a:rPr lang="ru-RU" sz="2000" b="1"/>
              <a:t>ОП</a:t>
            </a:r>
            <a:r>
              <a:rPr lang="en-US" sz="2000" b="1"/>
              <a:t> [ </a:t>
            </a:r>
            <a:r>
              <a:rPr lang="ru-RU" sz="2000" b="1"/>
              <a:t>УС</a:t>
            </a:r>
            <a:r>
              <a:rPr lang="en-US" sz="2000" b="1"/>
              <a:t> ] = </a:t>
            </a:r>
            <a:r>
              <a:rPr lang="ru-RU" sz="2000" b="1"/>
              <a:t>СК</a:t>
            </a:r>
            <a:r>
              <a:rPr lang="en-US" sz="2000" b="1"/>
              <a:t> ;</a:t>
            </a:r>
            <a:endParaRPr lang="ru-RU" sz="2000" b="1"/>
          </a:p>
          <a:p>
            <a:pPr algn="ctr"/>
            <a:r>
              <a:rPr lang="ru-RU" sz="2000" b="1"/>
              <a:t>УС = УС + 1;</a:t>
            </a:r>
            <a:endParaRPr lang="en-US" sz="2000" b="1"/>
          </a:p>
          <a:p>
            <a:pPr algn="just"/>
            <a:r>
              <a:rPr lang="en-US" sz="2000" b="1"/>
              <a:t>2) </a:t>
            </a:r>
            <a:r>
              <a:rPr lang="ru-RU" sz="2000" b="1"/>
              <a:t>В СК загружается адрес слова ТВП, соответствующего биту </a:t>
            </a:r>
            <a:r>
              <a:rPr lang="en-US" sz="2000" b="1"/>
              <a:t>F</a:t>
            </a:r>
            <a:r>
              <a:rPr lang="en-US" sz="2000" b="1" baseline="-25000"/>
              <a:t>i </a:t>
            </a:r>
            <a:r>
              <a:rPr lang="en-US" sz="2000" b="1"/>
              <a:t>(</a:t>
            </a:r>
            <a:r>
              <a:rPr lang="ru-RU" sz="2000" b="1"/>
              <a:t>причине прерывания).</a:t>
            </a:r>
          </a:p>
          <a:p>
            <a:pPr algn="just"/>
            <a:r>
              <a:rPr lang="en-US" sz="2000" b="1"/>
              <a:t>                                                      </a:t>
            </a:r>
            <a:r>
              <a:rPr lang="ru-RU" sz="2000" b="1"/>
              <a:t>СК = </a:t>
            </a:r>
            <a:r>
              <a:rPr lang="en-US" sz="2000" b="1"/>
              <a:t>i ;</a:t>
            </a:r>
            <a:r>
              <a:rPr lang="ru-RU" sz="2000" b="1"/>
              <a:t>  </a:t>
            </a:r>
            <a:endParaRPr lang="en-US" sz="2000" b="1"/>
          </a:p>
          <a:p>
            <a:pPr algn="just"/>
            <a:r>
              <a:rPr lang="ru-RU" sz="2000" b="1"/>
              <a:t>3) Процессор выполняет команду, на которую указывает СК. В    </a:t>
            </a:r>
            <a:r>
              <a:rPr lang="en-US" sz="2000" b="1"/>
              <a:t>i-</a:t>
            </a:r>
            <a:r>
              <a:rPr lang="ru-RU" sz="2000" b="1"/>
              <a:t>ом слове ОП находится команда </a:t>
            </a:r>
            <a:r>
              <a:rPr lang="en-US" sz="2000" b="1"/>
              <a:t> </a:t>
            </a:r>
            <a:r>
              <a:rPr lang="ru-RU" sz="2000" b="1"/>
              <a:t>безусловного перехода на адрес </a:t>
            </a:r>
            <a:r>
              <a:rPr lang="en-US" sz="2000" b="1"/>
              <a:t>A</a:t>
            </a:r>
            <a:r>
              <a:rPr lang="en-US" sz="2000" b="1" baseline="-25000"/>
              <a:t>i</a:t>
            </a:r>
            <a:r>
              <a:rPr lang="ru-RU" sz="2000" b="1"/>
              <a:t> первой команды программы обработки соответствующего прерывания.</a:t>
            </a:r>
            <a:endParaRPr lang="en-US" sz="2000" b="1"/>
          </a:p>
          <a:p>
            <a:pPr algn="just"/>
            <a:r>
              <a:rPr lang="ru-RU" sz="2000" b="1"/>
              <a:t>                                                      </a:t>
            </a:r>
            <a:r>
              <a:rPr lang="en-US" sz="2000" b="1"/>
              <a:t>JMP A</a:t>
            </a:r>
            <a:r>
              <a:rPr lang="en-US" sz="2000" b="1" baseline="-25000"/>
              <a:t>i</a:t>
            </a:r>
            <a:r>
              <a:rPr lang="en-US" sz="2000" b="1"/>
              <a:t> ;</a:t>
            </a:r>
          </a:p>
          <a:p>
            <a:pPr algn="just"/>
            <a:r>
              <a:rPr lang="ru-RU" sz="2000" b="1"/>
              <a:t>Результатом выполнения этой команды процессором является появление в СК адреса </a:t>
            </a:r>
            <a:r>
              <a:rPr lang="en-US" sz="2000" b="1"/>
              <a:t>A</a:t>
            </a:r>
            <a:r>
              <a:rPr lang="en-US" sz="2000" b="1" baseline="-25000"/>
              <a:t>i</a:t>
            </a:r>
            <a:r>
              <a:rPr lang="en-US" sz="2000" b="1"/>
              <a:t>:      </a:t>
            </a:r>
            <a:r>
              <a:rPr lang="ru-RU" sz="2000" b="1"/>
              <a:t>СК = </a:t>
            </a:r>
            <a:r>
              <a:rPr lang="en-US" sz="2000" b="1"/>
              <a:t>A</a:t>
            </a:r>
            <a:r>
              <a:rPr lang="en-US" sz="2000" b="1" baseline="-25000"/>
              <a:t>i</a:t>
            </a:r>
          </a:p>
          <a:p>
            <a:pPr algn="just"/>
            <a:endParaRPr lang="en-US" sz="2000" b="1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3"/>
          <p:cNvSpPr txBox="1">
            <a:spLocks noChangeArrowheads="1"/>
          </p:cNvSpPr>
          <p:nvPr/>
        </p:nvSpPr>
        <p:spPr bwMode="auto">
          <a:xfrm>
            <a:off x="179388" y="333375"/>
            <a:ext cx="8785225" cy="557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en-US" sz="2000" b="1"/>
              <a:t>4) </a:t>
            </a:r>
            <a:r>
              <a:rPr lang="ru-RU" sz="2000" b="1"/>
              <a:t>Процессор последовательно выполняет команды программы обработки прерывания.</a:t>
            </a:r>
            <a:endParaRPr lang="ru-RU" sz="2000"/>
          </a:p>
          <a:p>
            <a:pPr marL="342900" indent="-342900"/>
            <a:endParaRPr lang="ru-RU" sz="2000" b="1"/>
          </a:p>
          <a:p>
            <a:pPr marL="342900" indent="-342900"/>
            <a:r>
              <a:rPr lang="ru-RU" sz="2000" b="1"/>
              <a:t>5) Последняя команда в программе обработки прерываний – команда возврата из прерывания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RETI </a:t>
            </a:r>
            <a:r>
              <a:rPr lang="en-US" sz="2000" b="1"/>
              <a:t>(Return Interrupt).</a:t>
            </a:r>
            <a:endParaRPr lang="ru-RU" sz="2000" b="1"/>
          </a:p>
          <a:p>
            <a:pPr marL="342900" indent="-342900"/>
            <a:r>
              <a:rPr lang="ru-RU" sz="2000" b="1"/>
              <a:t>Она выполняется следующим образом: из стека извлекается запомненное значение адреса возврата и загружается в СК, работа процессора продолжается (довыполняется прерванная программа).</a:t>
            </a:r>
          </a:p>
          <a:p>
            <a:pPr marL="342900" indent="-342900" algn="ctr"/>
            <a:r>
              <a:rPr lang="ru-RU" sz="2000" b="1"/>
              <a:t>УС = УС – 1;</a:t>
            </a:r>
          </a:p>
          <a:p>
            <a:pPr marL="342900" indent="-342900" algn="ctr"/>
            <a:r>
              <a:rPr lang="ru-RU" sz="2000" b="1"/>
              <a:t>СК = ОП</a:t>
            </a:r>
            <a:r>
              <a:rPr lang="en-US" sz="2000" b="1"/>
              <a:t> [ </a:t>
            </a:r>
            <a:r>
              <a:rPr lang="ru-RU" sz="2000" b="1"/>
              <a:t>УС</a:t>
            </a:r>
            <a:r>
              <a:rPr lang="en-US" sz="2000" b="1"/>
              <a:t> ];</a:t>
            </a:r>
            <a:endParaRPr lang="ru-RU" sz="2000" b="1"/>
          </a:p>
          <a:p>
            <a:pPr marL="342900" indent="-342900"/>
            <a:endParaRPr lang="en-US" sz="2000" b="1"/>
          </a:p>
          <a:p>
            <a:pPr marL="342900" indent="-342900"/>
            <a:r>
              <a:rPr lang="ru-RU" sz="2000" b="1"/>
              <a:t>Если после выполнения очередной команды в регистре флагов обнаружено несколько единиц, то выполняется та или иная процедура опроса прерываний с учетом или без учета их приоритетов</a:t>
            </a:r>
            <a:r>
              <a:rPr lang="en-US" sz="2000" b="1"/>
              <a:t> </a:t>
            </a:r>
            <a:r>
              <a:rPr lang="ru-RU" sz="2000" b="1"/>
              <a:t>, и все возникшие незамаскированные  прерывания так или иначе обрабатываются (этот материал рассматривается в курсе «Операционные системы»).</a:t>
            </a:r>
            <a:endParaRPr lang="ru-RU" sz="20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"/>
          <p:cNvSpPr txBox="1">
            <a:spLocks noChangeArrowheads="1"/>
          </p:cNvSpPr>
          <p:nvPr/>
        </p:nvSpPr>
        <p:spPr bwMode="auto">
          <a:xfrm>
            <a:off x="323850" y="692150"/>
            <a:ext cx="8569325" cy="538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/>
            <a:r>
              <a:rPr lang="ru-RU" b="1"/>
              <a:t>Недостаток систем, основанных на векторах прерываний состоит в том, что запоминается  только адрес возврата. Если для нормального довыполнения прерванной программы необходимо запомнить содержимое некоторых регистров  специальных функций  (РСФ) и  регистров общего назначения (РОН) (они могут быть изменены программой обработки прерывания), то эта задача возлагается на программиста, который пишет программу обработки прерывания (при входе в программу обработки прерывания он сохраняет значения нужных регистров (например, регистра признака результата РПР) в ОП или в РОН, а перед командой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RETI </a:t>
            </a:r>
            <a:r>
              <a:rPr lang="ru-RU" b="1"/>
              <a:t>восстанавливает содержимое этих регистров, если оно было запорчено программой обработки прерываний.</a:t>
            </a:r>
            <a:endParaRPr lang="en-US" b="1"/>
          </a:p>
          <a:p>
            <a:pPr marL="342900" indent="-342900"/>
            <a:endParaRPr lang="ru-RU" b="1"/>
          </a:p>
          <a:p>
            <a:pPr marL="342900" indent="-342900"/>
            <a:r>
              <a:rPr lang="ru-RU" b="1"/>
              <a:t>Существуют системы , которые при возникновении прерывания сохраняют, а после обработки прерывания  восстанавливают  не  только адрес возврата, но  и значения  некоторых регистров специальных функций, например, </a:t>
            </a:r>
            <a:r>
              <a:rPr lang="en-US" b="1"/>
              <a:t> </a:t>
            </a:r>
            <a:r>
              <a:rPr lang="ru-RU" b="1"/>
              <a:t>РПР, регистра масок прерываний и других специальных регистров, объединенных  общим названием  «Слово состояния программы» (ССП или </a:t>
            </a:r>
            <a:r>
              <a:rPr lang="en-US" b="1"/>
              <a:t>PSW).</a:t>
            </a:r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4343</TotalTime>
  <Words>3773</Words>
  <Application>Microsoft Office PowerPoint</Application>
  <PresentationFormat>Экран (4:3)</PresentationFormat>
  <Paragraphs>258</Paragraphs>
  <Slides>63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63</vt:i4>
      </vt:variant>
    </vt:vector>
  </HeadingPairs>
  <TitlesOfParts>
    <vt:vector size="69" baseType="lpstr">
      <vt:lpstr>Arial</vt:lpstr>
      <vt:lpstr>Calibri</vt:lpstr>
      <vt:lpstr>Times New Roman</vt:lpstr>
      <vt:lpstr>Оформление по умолчанию</vt:lpstr>
      <vt:lpstr>Visio</vt:lpstr>
      <vt:lpstr>Формула</vt:lpstr>
      <vt:lpstr>Взаимодействие устройств ЭВМ в процессе выполнения машинной команды  (рабочий цикл процессора)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WareZ Provider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Синтез операционного устройства Пример.</dc:title>
  <dc:creator>www.PHILka.RU</dc:creator>
  <cp:lastModifiedBy>Артём Карелин</cp:lastModifiedBy>
  <cp:revision>251</cp:revision>
  <dcterms:created xsi:type="dcterms:W3CDTF">2011-09-27T14:57:20Z</dcterms:created>
  <dcterms:modified xsi:type="dcterms:W3CDTF">2026-10-01T19:52:42Z</dcterms:modified>
</cp:coreProperties>
</file>